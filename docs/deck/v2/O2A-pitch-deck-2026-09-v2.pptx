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live ceremony. The seal was funded at least 48 hours earlier and is 6 confirmations deep; on stage the genesis is signed, the EntityID and QR appear, two verifiers show CURRENT, and the artist signs the official_name claim. Never show seeds or wallet internals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230"/>
        </a:solidFill>
      </p:bgPr>
    </p:bg>
    <p:spTree>
      <p:nvGrpSpPr>
        <p:cNvPr id="1" name=""/>
        <p:cNvGrpSpPr/>
        <p:nvPr/>
      </p:nvGrpSpPr>
      <p:grpSpPr>
        <a:xfrm>
          <a:off x="0" y="0"/>
          <a:ext cx="0" cy="0"/>
          <a:chOff x="0" y="0"/>
          <a:chExt cx="0" cy="0"/>
        </a:xfrm>
      </p:grpSpPr>
      <p:sp>
        <p:nvSpPr>
          <p:cNvPr id="2" name="Shape 0"/>
          <p:cNvSpPr/>
          <p:nvPr/>
        </p:nvSpPr>
        <p:spPr>
          <a:xfrm>
            <a:off x="8877910" y="-2179930"/>
            <a:ext cx="4754880" cy="4754880"/>
          </a:xfrm>
          <a:prstGeom prst="ellipse">
            <a:avLst/>
          </a:prstGeom>
          <a:ln w="9525">
            <a:solidFill>
              <a:srgbClr val="232A55"/>
            </a:solidFill>
            <a:prstDash val="solid"/>
          </a:ln>
        </p:spPr>
      </p:sp>
      <p:sp>
        <p:nvSpPr>
          <p:cNvPr id="3" name="Shape 1"/>
          <p:cNvSpPr/>
          <p:nvPr/>
        </p:nvSpPr>
        <p:spPr>
          <a:xfrm>
            <a:off x="7630668" y="-3024835"/>
            <a:ext cx="6766560" cy="6766560"/>
          </a:xfrm>
          <a:prstGeom prst="ellipse">
            <a:avLst/>
          </a:prstGeom>
          <a:ln w="9525">
            <a:solidFill>
              <a:srgbClr val="232A55"/>
            </a:solidFill>
            <a:prstDash val="solid"/>
          </a:ln>
        </p:spPr>
      </p:sp>
      <p:sp>
        <p:nvSpPr>
          <p:cNvPr id="4" name="Shape 2"/>
          <p:cNvSpPr/>
          <p:nvPr/>
        </p:nvSpPr>
        <p:spPr>
          <a:xfrm>
            <a:off x="6383426" y="-3869741"/>
            <a:ext cx="8778240" cy="8778240"/>
          </a:xfrm>
          <a:prstGeom prst="ellipse">
            <a:avLst/>
          </a:prstGeom>
          <a:ln w="9525">
            <a:solidFill>
              <a:srgbClr val="232A55"/>
            </a:solidFill>
            <a:prstDash val="solid"/>
          </a:ln>
        </p:spPr>
      </p:sp>
      <p:sp>
        <p:nvSpPr>
          <p:cNvPr id="5" name="Text 3"/>
          <p:cNvSpPr txBox="1"/>
          <p:nvPr/>
        </p:nvSpPr>
        <p:spPr>
          <a:xfrm>
            <a:off x="777240" y="548640"/>
            <a:ext cx="2743200" cy="411480"/>
          </a:xfrm>
          <a:prstGeom prst="rect">
            <a:avLst/>
          </a:prstGeom>
          <a:noFill/>
          <a:ln/>
        </p:spPr>
        <p:txBody>
          <a:bodyPr wrap="square" lIns="0" tIns="0" rIns="0" bIns="0" rtlCol="0" anchor="ctr"/>
          <a:lstStyle/>
          <a:p>
            <a:pPr indent="0" marL="0">
              <a:buNone/>
            </a:pPr>
            <a:r>
              <a:rPr lang="en-US" sz="2000" b="1" spc="600" kern="0" dirty="0">
                <a:solidFill>
                  <a:srgbClr val="EEF0FA"/>
                </a:solidFill>
                <a:latin typeface="Consolas" pitchFamily="34" charset="0"/>
                <a:ea typeface="Consolas" pitchFamily="34" charset="-122"/>
                <a:cs typeface="Consolas" pitchFamily="34" charset="-120"/>
              </a:rPr>
              <a:t>O2A</a:t>
            </a:r>
            <a:endParaRPr lang="en-US" sz="2000" dirty="0"/>
          </a:p>
        </p:txBody>
      </p:sp>
      <p:sp>
        <p:nvSpPr>
          <p:cNvPr id="6" name="Text 4"/>
          <p:cNvSpPr txBox="1"/>
          <p:nvPr/>
        </p:nvSpPr>
        <p:spPr>
          <a:xfrm>
            <a:off x="777240" y="932688"/>
            <a:ext cx="2743200" cy="228600"/>
          </a:xfrm>
          <a:prstGeom prst="rect">
            <a:avLst/>
          </a:prstGeom>
          <a:noFill/>
          <a:ln/>
        </p:spPr>
        <p:txBody>
          <a:bodyPr wrap="square" lIns="0" tIns="0" rIns="0" bIns="0" rtlCol="0" anchor="ctr"/>
          <a:lstStyle/>
          <a:p>
            <a:pPr indent="0" marL="0">
              <a:buNone/>
            </a:pPr>
            <a:r>
              <a:rPr lang="en-US" sz="900" spc="500" kern="0" dirty="0">
                <a:solidFill>
                  <a:srgbClr val="B9BEDD"/>
                </a:solidFill>
                <a:latin typeface="Consolas" pitchFamily="34" charset="0"/>
                <a:ea typeface="Consolas" pitchFamily="34" charset="-122"/>
                <a:cs typeface="Consolas" pitchFamily="34" charset="-120"/>
              </a:rPr>
              <a:t>OPEN2ARTIST</a:t>
            </a:r>
            <a:endParaRPr lang="en-US" sz="900" dirty="0"/>
          </a:p>
        </p:txBody>
      </p:sp>
      <p:sp>
        <p:nvSpPr>
          <p:cNvPr id="7" name="Text 5"/>
          <p:cNvSpPr txBox="1"/>
          <p:nvPr/>
        </p:nvSpPr>
        <p:spPr>
          <a:xfrm>
            <a:off x="777240" y="1600200"/>
            <a:ext cx="7772400" cy="2926080"/>
          </a:xfrm>
          <a:prstGeom prst="rect">
            <a:avLst/>
          </a:prstGeom>
          <a:noFill/>
          <a:ln/>
        </p:spPr>
        <p:txBody>
          <a:bodyPr wrap="square" lIns="0" tIns="0" rIns="0" bIns="0" rtlCol="0" anchor="t"/>
          <a:lstStyle/>
          <a:p>
            <a:pPr indent="0" marL="0">
              <a:buNone/>
            </a:pPr>
            <a:r>
              <a:rPr lang="en-US" sz="6000" b="1" dirty="0">
                <a:solidFill>
                  <a:srgbClr val="EEF0FA"/>
                </a:solidFill>
                <a:latin typeface="Arial" pitchFamily="34" charset="0"/>
                <a:ea typeface="Arial" pitchFamily="34" charset="-122"/>
                <a:cs typeface="Arial" pitchFamily="34" charset="-120"/>
              </a:rPr>
              <a:t>Identity that</a:t>
            </a:r>
            <a:endParaRPr lang="en-US" sz="6000" dirty="0"/>
          </a:p>
          <a:p>
            <a:pPr indent="0" marL="0">
              <a:buNone/>
            </a:pPr>
            <a:r>
              <a:rPr lang="en-US" sz="6000" b="1" dirty="0">
                <a:solidFill>
                  <a:srgbClr val="EEF0FA"/>
                </a:solidFill>
                <a:latin typeface="Arial" pitchFamily="34" charset="0"/>
                <a:ea typeface="Arial" pitchFamily="34" charset="-122"/>
                <a:cs typeface="Arial" pitchFamily="34" charset="-120"/>
              </a:rPr>
              <a:t>moves with</a:t>
            </a:r>
            <a:endParaRPr lang="en-US" sz="6000" dirty="0"/>
          </a:p>
          <a:p>
            <a:pPr indent="0" marL="0">
              <a:buNone/>
            </a:pPr>
            <a:r>
              <a:rPr lang="en-US" sz="6000" b="1" dirty="0">
                <a:solidFill>
                  <a:srgbClr val="EEF0FA"/>
                </a:solidFill>
                <a:latin typeface="Arial" pitchFamily="34" charset="0"/>
                <a:ea typeface="Arial" pitchFamily="34" charset="-122"/>
                <a:cs typeface="Arial" pitchFamily="34" charset="-120"/>
              </a:rPr>
              <a:t>the artist.</a:t>
            </a:r>
            <a:endParaRPr lang="en-US" sz="6000" dirty="0"/>
          </a:p>
        </p:txBody>
      </p:sp>
      <p:sp>
        <p:nvSpPr>
          <p:cNvPr id="8" name="Text 6"/>
          <p:cNvSpPr txBox="1"/>
          <p:nvPr/>
        </p:nvSpPr>
        <p:spPr>
          <a:xfrm>
            <a:off x="777240" y="4663440"/>
            <a:ext cx="7498080" cy="822960"/>
          </a:xfrm>
          <a:prstGeom prst="rect">
            <a:avLst/>
          </a:prstGeom>
          <a:noFill/>
          <a:ln/>
        </p:spPr>
        <p:txBody>
          <a:bodyPr wrap="square" lIns="0" tIns="0" rIns="0" bIns="0" rtlCol="0" anchor="t"/>
          <a:lstStyle/>
          <a:p>
            <a:pPr indent="0" marL="0">
              <a:spcAft>
                <a:spcPts val="600"/>
              </a:spcAft>
              <a:buNone/>
            </a:pPr>
            <a:r>
              <a:rPr lang="en-US" sz="1600" dirty="0">
                <a:solidFill>
                  <a:srgbClr val="B9BEDD"/>
                </a:solidFill>
                <a:latin typeface="Arial" pitchFamily="34" charset="0"/>
                <a:ea typeface="Arial" pitchFamily="34" charset="-122"/>
                <a:cs typeface="Arial" pitchFamily="34" charset="-120"/>
              </a:rPr>
              <a:t>A Bitcoin-native identity and trust layer for live music. Artists, venues, promoters, labels, events and albums, each with an ID they hold in their own keys.</a:t>
            </a:r>
            <a:endParaRPr lang="en-US" sz="1600" dirty="0"/>
          </a:p>
        </p:txBody>
      </p:sp>
      <p:sp>
        <p:nvSpPr>
          <p:cNvPr id="9" name="Text 7"/>
          <p:cNvSpPr txBox="1"/>
          <p:nvPr/>
        </p:nvSpPr>
        <p:spPr>
          <a:xfrm>
            <a:off x="9128455" y="5989320"/>
            <a:ext cx="2286000" cy="502920"/>
          </a:xfrm>
          <a:prstGeom prst="rect">
            <a:avLst/>
          </a:prstGeom>
          <a:noFill/>
          <a:ln/>
        </p:spPr>
        <p:txBody>
          <a:bodyPr wrap="square" lIns="0" tIns="0" rIns="0" bIns="0" rtlCol="0" anchor="t"/>
          <a:lstStyle/>
          <a:p>
            <a:pPr algn="r" indent="0" marL="0">
              <a:buNone/>
            </a:pPr>
            <a:r>
              <a:rPr lang="en-US" sz="1050" dirty="0">
                <a:solidFill>
                  <a:srgbClr val="B9BEDD"/>
                </a:solidFill>
                <a:latin typeface="Consolas" pitchFamily="34" charset="0"/>
                <a:ea typeface="Consolas" pitchFamily="34" charset="-122"/>
                <a:cs typeface="Consolas" pitchFamily="34" charset="-120"/>
              </a:rPr>
              <a:t>September 2026</a:t>
            </a:r>
            <a:endParaRPr lang="en-US" sz="1050" dirty="0"/>
          </a:p>
          <a:p>
            <a:pPr algn="r" indent="0" marL="0">
              <a:buNone/>
            </a:pPr>
            <a:r>
              <a:rPr lang="en-US" sz="1050" dirty="0">
                <a:solidFill>
                  <a:srgbClr val="B9BEDD"/>
                </a:solidFill>
                <a:latin typeface="Consolas" pitchFamily="34" charset="0"/>
                <a:ea typeface="Consolas" pitchFamily="34" charset="-122"/>
                <a:cs typeface="Consolas" pitchFamily="34" charset="-120"/>
              </a:rPr>
              <a:t>Pitch deck · v2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02</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The problem</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Live music runs on identity that</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nobody owns.</a:t>
            </a:r>
            <a:endParaRPr lang="en-US" sz="3600" dirty="0"/>
          </a:p>
        </p:txBody>
      </p:sp>
      <p:sp>
        <p:nvSpPr>
          <p:cNvPr id="6" name="Text 4"/>
          <p:cNvSpPr txBox="1"/>
          <p:nvPr/>
        </p:nvSpPr>
        <p:spPr>
          <a:xfrm>
            <a:off x="777240" y="2468880"/>
            <a:ext cx="8778240" cy="914400"/>
          </a:xfrm>
          <a:prstGeom prst="rect">
            <a:avLst/>
          </a:prstGeom>
          <a:noFill/>
          <a:ln/>
        </p:spPr>
        <p:txBody>
          <a:bodyPr wrap="square" lIns="0" tIns="0" rIns="0" bIns="0" rtlCol="0" anchor="t"/>
          <a:lstStyle/>
          <a:p>
            <a:pPr indent="0" marL="0">
              <a:spcAft>
                <a:spcPts val="600"/>
              </a:spcAft>
              <a:buNone/>
            </a:pPr>
            <a:r>
              <a:rPr lang="en-US" sz="1800" dirty="0">
                <a:solidFill>
                  <a:srgbClr val="B9BEDD"/>
                </a:solidFill>
                <a:latin typeface="Arial" pitchFamily="34" charset="0"/>
                <a:ea typeface="Arial" pitchFamily="34" charset="-122"/>
                <a:cs typeface="Arial" pitchFamily="34" charset="-120"/>
              </a:rPr>
              <a:t>The same artist is five different records in five different systems. None of them belongs to the artist, and none proves the artist agreed to be matched with the others.</a:t>
            </a:r>
            <a:endParaRPr lang="en-US" sz="1800" dirty="0"/>
          </a:p>
        </p:txBody>
      </p:sp>
      <p:sp>
        <p:nvSpPr>
          <p:cNvPr id="7" name="Shape 5"/>
          <p:cNvSpPr/>
          <p:nvPr/>
        </p:nvSpPr>
        <p:spPr>
          <a:xfrm>
            <a:off x="777240" y="3611880"/>
            <a:ext cx="1828800" cy="731520"/>
          </a:xfrm>
          <a:prstGeom prst="roundRect">
            <a:avLst>
              <a:gd name="adj" fmla="val 10000"/>
            </a:avLst>
          </a:prstGeom>
          <a:solidFill>
            <a:srgbClr val="141A40"/>
          </a:solidFill>
          <a:ln w="9525">
            <a:solidFill>
              <a:srgbClr val="282E53"/>
            </a:solidFill>
            <a:prstDash val="solid"/>
          </a:ln>
        </p:spPr>
      </p:sp>
      <p:sp>
        <p:nvSpPr>
          <p:cNvPr id="8" name="Text 6"/>
          <p:cNvSpPr txBox="1"/>
          <p:nvPr/>
        </p:nvSpPr>
        <p:spPr>
          <a:xfrm>
            <a:off x="932688" y="3703320"/>
            <a:ext cx="1554480" cy="256032"/>
          </a:xfrm>
          <a:prstGeom prst="rect">
            <a:avLst/>
          </a:prstGeom>
          <a:noFill/>
          <a:ln/>
        </p:spPr>
        <p:txBody>
          <a:bodyPr wrap="square" lIns="0" tIns="0" rIns="0" bIns="0" rtlCol="0" anchor="ctr"/>
          <a:lstStyle/>
          <a:p>
            <a:pPr indent="0" marL="0">
              <a:buNone/>
            </a:pPr>
            <a:r>
              <a:rPr lang="en-US" sz="1100" b="1" dirty="0">
                <a:solidFill>
                  <a:srgbClr val="7E85B0"/>
                </a:solidFill>
                <a:latin typeface="Arial" pitchFamily="34" charset="0"/>
                <a:ea typeface="Arial" pitchFamily="34" charset="-122"/>
                <a:cs typeface="Arial" pitchFamily="34" charset="-120"/>
              </a:rPr>
              <a:t>Streaming platform A</a:t>
            </a:r>
            <a:endParaRPr lang="en-US" sz="1100" dirty="0"/>
          </a:p>
        </p:txBody>
      </p:sp>
      <p:sp>
        <p:nvSpPr>
          <p:cNvPr id="9" name="Text 7"/>
          <p:cNvSpPr txBox="1"/>
          <p:nvPr/>
        </p:nvSpPr>
        <p:spPr>
          <a:xfrm>
            <a:off x="932688" y="3995928"/>
            <a:ext cx="1554480" cy="256032"/>
          </a:xfrm>
          <a:prstGeom prst="rect">
            <a:avLst/>
          </a:prstGeom>
          <a:noFill/>
          <a:ln/>
        </p:spPr>
        <p:txBody>
          <a:bodyPr wrap="square" lIns="0" tIns="0" rIns="0" bIns="0" rtlCol="0" anchor="ctr"/>
          <a:lstStyle/>
          <a:p>
            <a:pPr indent="0" marL="0">
              <a:buNone/>
            </a:pPr>
            <a:r>
              <a:rPr lang="en-US" sz="1200" dirty="0">
                <a:solidFill>
                  <a:srgbClr val="B9BEDD"/>
                </a:solidFill>
                <a:latin typeface="Consolas" pitchFamily="34" charset="0"/>
                <a:ea typeface="Consolas" pitchFamily="34" charset="-122"/>
                <a:cs typeface="Consolas" pitchFamily="34" charset="-120"/>
              </a:rPr>
              <a:t>4pQz…7Lm2</a:t>
            </a:r>
            <a:endParaRPr lang="en-US" sz="1200" dirty="0"/>
          </a:p>
        </p:txBody>
      </p:sp>
      <p:sp>
        <p:nvSpPr>
          <p:cNvPr id="10" name="Shape 8"/>
          <p:cNvSpPr/>
          <p:nvPr/>
        </p:nvSpPr>
        <p:spPr>
          <a:xfrm>
            <a:off x="2770632" y="3611880"/>
            <a:ext cx="1828800" cy="731520"/>
          </a:xfrm>
          <a:prstGeom prst="roundRect">
            <a:avLst>
              <a:gd name="adj" fmla="val 10000"/>
            </a:avLst>
          </a:prstGeom>
          <a:solidFill>
            <a:srgbClr val="141A40"/>
          </a:solidFill>
          <a:ln w="9525">
            <a:solidFill>
              <a:srgbClr val="282E53"/>
            </a:solidFill>
            <a:prstDash val="solid"/>
          </a:ln>
        </p:spPr>
      </p:sp>
      <p:sp>
        <p:nvSpPr>
          <p:cNvPr id="11" name="Text 9"/>
          <p:cNvSpPr txBox="1"/>
          <p:nvPr/>
        </p:nvSpPr>
        <p:spPr>
          <a:xfrm>
            <a:off x="2926080" y="3703320"/>
            <a:ext cx="1554480" cy="256032"/>
          </a:xfrm>
          <a:prstGeom prst="rect">
            <a:avLst/>
          </a:prstGeom>
          <a:noFill/>
          <a:ln/>
        </p:spPr>
        <p:txBody>
          <a:bodyPr wrap="square" lIns="0" tIns="0" rIns="0" bIns="0" rtlCol="0" anchor="ctr"/>
          <a:lstStyle/>
          <a:p>
            <a:pPr indent="0" marL="0">
              <a:buNone/>
            </a:pPr>
            <a:r>
              <a:rPr lang="en-US" sz="1100" b="1" dirty="0">
                <a:solidFill>
                  <a:srgbClr val="7E85B0"/>
                </a:solidFill>
                <a:latin typeface="Arial" pitchFamily="34" charset="0"/>
                <a:ea typeface="Arial" pitchFamily="34" charset="-122"/>
                <a:cs typeface="Arial" pitchFamily="34" charset="-120"/>
              </a:rPr>
              <a:t>Streaming platform B</a:t>
            </a:r>
            <a:endParaRPr lang="en-US" sz="1100" dirty="0"/>
          </a:p>
        </p:txBody>
      </p:sp>
      <p:sp>
        <p:nvSpPr>
          <p:cNvPr id="12" name="Text 10"/>
          <p:cNvSpPr txBox="1"/>
          <p:nvPr/>
        </p:nvSpPr>
        <p:spPr>
          <a:xfrm>
            <a:off x="2926080" y="3995928"/>
            <a:ext cx="1554480" cy="256032"/>
          </a:xfrm>
          <a:prstGeom prst="rect">
            <a:avLst/>
          </a:prstGeom>
          <a:noFill/>
          <a:ln/>
        </p:spPr>
        <p:txBody>
          <a:bodyPr wrap="square" lIns="0" tIns="0" rIns="0" bIns="0" rtlCol="0" anchor="ctr"/>
          <a:lstStyle/>
          <a:p>
            <a:pPr indent="0" marL="0">
              <a:buNone/>
            </a:pPr>
            <a:r>
              <a:rPr lang="en-US" sz="1200" dirty="0">
                <a:solidFill>
                  <a:srgbClr val="B9BEDD"/>
                </a:solidFill>
                <a:latin typeface="Consolas" pitchFamily="34" charset="0"/>
                <a:ea typeface="Consolas" pitchFamily="34" charset="-122"/>
                <a:cs typeface="Consolas" pitchFamily="34" charset="-120"/>
              </a:rPr>
              <a:t>1093…2287</a:t>
            </a:r>
            <a:endParaRPr lang="en-US" sz="1200" dirty="0"/>
          </a:p>
        </p:txBody>
      </p:sp>
      <p:sp>
        <p:nvSpPr>
          <p:cNvPr id="13" name="Shape 11"/>
          <p:cNvSpPr/>
          <p:nvPr/>
        </p:nvSpPr>
        <p:spPr>
          <a:xfrm>
            <a:off x="4764024" y="3611880"/>
            <a:ext cx="1828800" cy="731520"/>
          </a:xfrm>
          <a:prstGeom prst="roundRect">
            <a:avLst>
              <a:gd name="adj" fmla="val 10000"/>
            </a:avLst>
          </a:prstGeom>
          <a:solidFill>
            <a:srgbClr val="141A40"/>
          </a:solidFill>
          <a:ln w="9525">
            <a:solidFill>
              <a:srgbClr val="282E53"/>
            </a:solidFill>
            <a:prstDash val="solid"/>
          </a:ln>
        </p:spPr>
      </p:sp>
      <p:sp>
        <p:nvSpPr>
          <p:cNvPr id="14" name="Text 12"/>
          <p:cNvSpPr txBox="1"/>
          <p:nvPr/>
        </p:nvSpPr>
        <p:spPr>
          <a:xfrm>
            <a:off x="4919472" y="3703320"/>
            <a:ext cx="1554480" cy="256032"/>
          </a:xfrm>
          <a:prstGeom prst="rect">
            <a:avLst/>
          </a:prstGeom>
          <a:noFill/>
          <a:ln/>
        </p:spPr>
        <p:txBody>
          <a:bodyPr wrap="square" lIns="0" tIns="0" rIns="0" bIns="0" rtlCol="0" anchor="ctr"/>
          <a:lstStyle/>
          <a:p>
            <a:pPr indent="0" marL="0">
              <a:buNone/>
            </a:pPr>
            <a:r>
              <a:rPr lang="en-US" sz="1100" b="1" dirty="0">
                <a:solidFill>
                  <a:srgbClr val="7E85B0"/>
                </a:solidFill>
                <a:latin typeface="Arial" pitchFamily="34" charset="0"/>
                <a:ea typeface="Arial" pitchFamily="34" charset="-122"/>
                <a:cs typeface="Arial" pitchFamily="34" charset="-120"/>
              </a:rPr>
              <a:t>Analytics vendor</a:t>
            </a:r>
            <a:endParaRPr lang="en-US" sz="1100" dirty="0"/>
          </a:p>
        </p:txBody>
      </p:sp>
      <p:sp>
        <p:nvSpPr>
          <p:cNvPr id="15" name="Text 13"/>
          <p:cNvSpPr txBox="1"/>
          <p:nvPr/>
        </p:nvSpPr>
        <p:spPr>
          <a:xfrm>
            <a:off x="4919472" y="3995928"/>
            <a:ext cx="1554480" cy="256032"/>
          </a:xfrm>
          <a:prstGeom prst="rect">
            <a:avLst/>
          </a:prstGeom>
          <a:noFill/>
          <a:ln/>
        </p:spPr>
        <p:txBody>
          <a:bodyPr wrap="square" lIns="0" tIns="0" rIns="0" bIns="0" rtlCol="0" anchor="ctr"/>
          <a:lstStyle/>
          <a:p>
            <a:pPr indent="0" marL="0">
              <a:buNone/>
            </a:pPr>
            <a:r>
              <a:rPr lang="en-US" sz="1200" dirty="0">
                <a:solidFill>
                  <a:srgbClr val="B9BEDD"/>
                </a:solidFill>
                <a:latin typeface="Consolas" pitchFamily="34" charset="0"/>
                <a:ea typeface="Consolas" pitchFamily="34" charset="-122"/>
                <a:cs typeface="Consolas" pitchFamily="34" charset="-120"/>
              </a:rPr>
              <a:t>art_55…921</a:t>
            </a:r>
            <a:endParaRPr lang="en-US" sz="1200" dirty="0"/>
          </a:p>
        </p:txBody>
      </p:sp>
      <p:sp>
        <p:nvSpPr>
          <p:cNvPr id="16" name="Shape 14"/>
          <p:cNvSpPr/>
          <p:nvPr/>
        </p:nvSpPr>
        <p:spPr>
          <a:xfrm>
            <a:off x="6757416" y="3611880"/>
            <a:ext cx="1828800" cy="731520"/>
          </a:xfrm>
          <a:prstGeom prst="roundRect">
            <a:avLst>
              <a:gd name="adj" fmla="val 10000"/>
            </a:avLst>
          </a:prstGeom>
          <a:solidFill>
            <a:srgbClr val="141A40"/>
          </a:solidFill>
          <a:ln w="9525">
            <a:solidFill>
              <a:srgbClr val="282E53"/>
            </a:solidFill>
            <a:prstDash val="solid"/>
          </a:ln>
        </p:spPr>
      </p:sp>
      <p:sp>
        <p:nvSpPr>
          <p:cNvPr id="17" name="Text 15"/>
          <p:cNvSpPr txBox="1"/>
          <p:nvPr/>
        </p:nvSpPr>
        <p:spPr>
          <a:xfrm>
            <a:off x="6912864" y="3703320"/>
            <a:ext cx="1554480" cy="256032"/>
          </a:xfrm>
          <a:prstGeom prst="rect">
            <a:avLst/>
          </a:prstGeom>
          <a:noFill/>
          <a:ln/>
        </p:spPr>
        <p:txBody>
          <a:bodyPr wrap="square" lIns="0" tIns="0" rIns="0" bIns="0" rtlCol="0" anchor="ctr"/>
          <a:lstStyle/>
          <a:p>
            <a:pPr indent="0" marL="0">
              <a:buNone/>
            </a:pPr>
            <a:r>
              <a:rPr lang="en-US" sz="1100" b="1" dirty="0">
                <a:solidFill>
                  <a:srgbClr val="7E85B0"/>
                </a:solidFill>
                <a:latin typeface="Arial" pitchFamily="34" charset="0"/>
                <a:ea typeface="Arial" pitchFamily="34" charset="-122"/>
                <a:cs typeface="Arial" pitchFamily="34" charset="-120"/>
              </a:rPr>
              <a:t>Open catalog</a:t>
            </a:r>
            <a:endParaRPr lang="en-US" sz="1100" dirty="0"/>
          </a:p>
        </p:txBody>
      </p:sp>
      <p:sp>
        <p:nvSpPr>
          <p:cNvPr id="18" name="Text 16"/>
          <p:cNvSpPr txBox="1"/>
          <p:nvPr/>
        </p:nvSpPr>
        <p:spPr>
          <a:xfrm>
            <a:off x="6912864" y="3995928"/>
            <a:ext cx="1554480" cy="256032"/>
          </a:xfrm>
          <a:prstGeom prst="rect">
            <a:avLst/>
          </a:prstGeom>
          <a:noFill/>
          <a:ln/>
        </p:spPr>
        <p:txBody>
          <a:bodyPr wrap="square" lIns="0" tIns="0" rIns="0" bIns="0" rtlCol="0" anchor="ctr"/>
          <a:lstStyle/>
          <a:p>
            <a:pPr indent="0" marL="0">
              <a:buNone/>
            </a:pPr>
            <a:r>
              <a:rPr lang="en-US" sz="1200" dirty="0">
                <a:solidFill>
                  <a:srgbClr val="B9BEDD"/>
                </a:solidFill>
                <a:latin typeface="Consolas" pitchFamily="34" charset="0"/>
                <a:ea typeface="Consolas" pitchFamily="34" charset="-122"/>
                <a:cs typeface="Consolas" pitchFamily="34" charset="-120"/>
              </a:rPr>
              <a:t>b7e1…4c9a</a:t>
            </a:r>
            <a:endParaRPr lang="en-US" sz="1200" dirty="0"/>
          </a:p>
        </p:txBody>
      </p:sp>
      <p:sp>
        <p:nvSpPr>
          <p:cNvPr id="19" name="Shape 17"/>
          <p:cNvSpPr/>
          <p:nvPr/>
        </p:nvSpPr>
        <p:spPr>
          <a:xfrm>
            <a:off x="8750808" y="3611880"/>
            <a:ext cx="1828800" cy="731520"/>
          </a:xfrm>
          <a:prstGeom prst="roundRect">
            <a:avLst>
              <a:gd name="adj" fmla="val 10000"/>
            </a:avLst>
          </a:prstGeom>
          <a:solidFill>
            <a:srgbClr val="141A40"/>
          </a:solidFill>
          <a:ln w="9525">
            <a:solidFill>
              <a:srgbClr val="282E53"/>
            </a:solidFill>
            <a:prstDash val="solid"/>
          </a:ln>
        </p:spPr>
      </p:sp>
      <p:sp>
        <p:nvSpPr>
          <p:cNvPr id="20" name="Text 18"/>
          <p:cNvSpPr txBox="1"/>
          <p:nvPr/>
        </p:nvSpPr>
        <p:spPr>
          <a:xfrm>
            <a:off x="8906256" y="3703320"/>
            <a:ext cx="1554480" cy="256032"/>
          </a:xfrm>
          <a:prstGeom prst="rect">
            <a:avLst/>
          </a:prstGeom>
          <a:noFill/>
          <a:ln/>
        </p:spPr>
        <p:txBody>
          <a:bodyPr wrap="square" lIns="0" tIns="0" rIns="0" bIns="0" rtlCol="0" anchor="ctr"/>
          <a:lstStyle/>
          <a:p>
            <a:pPr indent="0" marL="0">
              <a:buNone/>
            </a:pPr>
            <a:r>
              <a:rPr lang="en-US" sz="1100" b="1" dirty="0">
                <a:solidFill>
                  <a:srgbClr val="7E85B0"/>
                </a:solidFill>
                <a:latin typeface="Arial" pitchFamily="34" charset="0"/>
                <a:ea typeface="Arial" pitchFamily="34" charset="-122"/>
                <a:cs typeface="Arial" pitchFamily="34" charset="-120"/>
              </a:rPr>
              <a:t>Rights registry</a:t>
            </a:r>
            <a:endParaRPr lang="en-US" sz="1100" dirty="0"/>
          </a:p>
        </p:txBody>
      </p:sp>
      <p:sp>
        <p:nvSpPr>
          <p:cNvPr id="21" name="Text 19"/>
          <p:cNvSpPr txBox="1"/>
          <p:nvPr/>
        </p:nvSpPr>
        <p:spPr>
          <a:xfrm>
            <a:off x="8906256" y="3995928"/>
            <a:ext cx="1554480" cy="256032"/>
          </a:xfrm>
          <a:prstGeom prst="rect">
            <a:avLst/>
          </a:prstGeom>
          <a:noFill/>
          <a:ln/>
        </p:spPr>
        <p:txBody>
          <a:bodyPr wrap="square" lIns="0" tIns="0" rIns="0" bIns="0" rtlCol="0" anchor="ctr"/>
          <a:lstStyle/>
          <a:p>
            <a:pPr indent="0" marL="0">
              <a:buNone/>
            </a:pPr>
            <a:r>
              <a:rPr lang="en-US" sz="1200" dirty="0">
                <a:solidFill>
                  <a:srgbClr val="B9BEDD"/>
                </a:solidFill>
                <a:latin typeface="Consolas" pitchFamily="34" charset="0"/>
                <a:ea typeface="Consolas" pitchFamily="34" charset="-122"/>
                <a:cs typeface="Consolas" pitchFamily="34" charset="-120"/>
              </a:rPr>
              <a:t>0000 0004 …</a:t>
            </a:r>
            <a:endParaRPr lang="en-US" sz="1200" dirty="0"/>
          </a:p>
        </p:txBody>
      </p:sp>
      <p:sp>
        <p:nvSpPr>
          <p:cNvPr id="22" name="Shape 20"/>
          <p:cNvSpPr/>
          <p:nvPr/>
        </p:nvSpPr>
        <p:spPr>
          <a:xfrm>
            <a:off x="777240" y="4526280"/>
            <a:ext cx="1600200" cy="731520"/>
          </a:xfrm>
          <a:prstGeom prst="roundRect">
            <a:avLst>
              <a:gd name="adj" fmla="val 10000"/>
            </a:avLst>
          </a:prstGeom>
          <a:solidFill>
            <a:srgbClr val="141A40"/>
          </a:solidFill>
          <a:ln w="19050">
            <a:solidFill>
              <a:srgbClr val="F2B33D"/>
            </a:solidFill>
            <a:prstDash val="solid"/>
          </a:ln>
        </p:spPr>
      </p:sp>
      <p:sp>
        <p:nvSpPr>
          <p:cNvPr id="23" name="Text 21"/>
          <p:cNvSpPr txBox="1"/>
          <p:nvPr/>
        </p:nvSpPr>
        <p:spPr>
          <a:xfrm>
            <a:off x="932688" y="4617720"/>
            <a:ext cx="1371600" cy="256032"/>
          </a:xfrm>
          <a:prstGeom prst="rect">
            <a:avLst/>
          </a:prstGeom>
          <a:noFill/>
          <a:ln/>
        </p:spPr>
        <p:txBody>
          <a:bodyPr wrap="square" lIns="0" tIns="0" rIns="0" bIns="0" rtlCol="0" anchor="ctr"/>
          <a:lstStyle/>
          <a:p>
            <a:pPr indent="0" marL="0">
              <a:buNone/>
            </a:pPr>
            <a:r>
              <a:rPr lang="en-US" sz="1100" b="1" dirty="0">
                <a:solidFill>
                  <a:srgbClr val="F2B33D"/>
                </a:solidFill>
                <a:latin typeface="Arial" pitchFamily="34" charset="0"/>
                <a:ea typeface="Arial" pitchFamily="34" charset="-122"/>
                <a:cs typeface="Arial" pitchFamily="34" charset="-120"/>
              </a:rPr>
              <a:t>Held by the artist</a:t>
            </a:r>
            <a:endParaRPr lang="en-US" sz="1100" dirty="0"/>
          </a:p>
        </p:txBody>
      </p:sp>
      <p:sp>
        <p:nvSpPr>
          <p:cNvPr id="24" name="Text 22"/>
          <p:cNvSpPr txBox="1"/>
          <p:nvPr/>
        </p:nvSpPr>
        <p:spPr>
          <a:xfrm>
            <a:off x="932688" y="4910328"/>
            <a:ext cx="1371600" cy="256032"/>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none</a:t>
            </a:r>
            <a:endParaRPr lang="en-US" sz="1200" dirty="0"/>
          </a:p>
        </p:txBody>
      </p:sp>
      <p:sp>
        <p:nvSpPr>
          <p:cNvPr id="25" name="Text 23"/>
          <p:cNvSpPr txBox="1"/>
          <p:nvPr/>
        </p:nvSpPr>
        <p:spPr>
          <a:xfrm>
            <a:off x="777240" y="5486400"/>
            <a:ext cx="7772400" cy="548640"/>
          </a:xfrm>
          <a:prstGeom prst="rect">
            <a:avLst/>
          </a:prstGeom>
          <a:noFill/>
          <a:ln/>
        </p:spPr>
        <p:txBody>
          <a:bodyPr wrap="square" lIns="0" tIns="0" rIns="0" bIns="0" rtlCol="0" anchor="t"/>
          <a:lstStyle/>
          <a:p>
            <a:pPr indent="0" marL="0">
              <a:spcAft>
                <a:spcPts val="600"/>
              </a:spcAft>
              <a:buNone/>
            </a:pPr>
            <a:r>
              <a:rPr lang="en-US" sz="1400" dirty="0">
                <a:solidFill>
                  <a:srgbClr val="B9BEDD"/>
                </a:solidFill>
                <a:latin typeface="Arial" pitchFamily="34" charset="0"/>
                <a:ea typeface="Arial" pitchFamily="34" charset="-122"/>
                <a:cs typeface="Arial" pitchFamily="34" charset="-120"/>
              </a:rPr>
              <a:t>For venues and promoters the picture is worse: the same tour has different names and IDs in every country it touches.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03</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Where this comes from</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We found the problem inside our own</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data.</a:t>
            </a:r>
            <a:endParaRPr lang="en-US" sz="3600" dirty="0"/>
          </a:p>
        </p:txBody>
      </p:sp>
      <p:sp>
        <p:nvSpPr>
          <p:cNvPr id="6" name="Text 4"/>
          <p:cNvSpPr txBox="1"/>
          <p:nvPr/>
        </p:nvSpPr>
        <p:spPr>
          <a:xfrm>
            <a:off x="777240" y="2514600"/>
            <a:ext cx="5669280" cy="2926080"/>
          </a:xfrm>
          <a:prstGeom prst="rect">
            <a:avLst/>
          </a:prstGeom>
          <a:noFill/>
          <a:ln/>
        </p:spPr>
        <p:txBody>
          <a:bodyPr wrap="square" lIns="0" tIns="0" rIns="0" bIns="0" rtlCol="0" anchor="t"/>
          <a:lstStyle/>
          <a:p>
            <a:pPr indent="0" marL="0">
              <a:spcAft>
                <a:spcPts val="1200"/>
              </a:spcAft>
              <a:buNone/>
            </a:pPr>
            <a:r>
              <a:rPr lang="en-US" sz="1450" dirty="0">
                <a:solidFill>
                  <a:srgbClr val="B9BEDD"/>
                </a:solidFill>
                <a:latin typeface="Arial" pitchFamily="34" charset="0"/>
                <a:ea typeface="Arial" pitchFamily="34" charset="-122"/>
                <a:cs typeface="Arial" pitchFamily="34" charset="-120"/>
              </a:rPr>
              <a:t>Building CT-GOT, our ticket-sales forecasting model, we had to reconcile millions of ticket and event sales across Central America and the Caribbean.</a:t>
            </a:r>
            <a:endParaRPr lang="en-US" sz="1450" dirty="0"/>
          </a:p>
          <a:p>
            <a:pPr indent="0" marL="0">
              <a:spcAft>
                <a:spcPts val="1200"/>
              </a:spcAft>
              <a:buNone/>
            </a:pPr>
            <a:r>
              <a:rPr lang="en-US" sz="1450" dirty="0">
                <a:solidFill>
                  <a:srgbClr val="B9BEDD"/>
                </a:solidFill>
                <a:latin typeface="Arial" pitchFamily="34" charset="0"/>
                <a:ea typeface="Arial" pitchFamily="34" charset="-122"/>
                <a:cs typeface="Arial" pitchFamily="34" charset="-120"/>
              </a:rPr>
              <a:t>Every artist had to be matched across four or five platform IDs that disagreed on canonical names, song authorship and album records. Venue and promoter names for the same tour were inconsistent from one country to the next. A centralized registry did not solve it, because a catalog entry proves nothing about who controls the name.</a:t>
            </a:r>
            <a:endParaRPr lang="en-US" sz="1450" dirty="0"/>
          </a:p>
        </p:txBody>
      </p:sp>
      <p:sp>
        <p:nvSpPr>
          <p:cNvPr id="7" name="Text 5"/>
          <p:cNvSpPr txBox="1"/>
          <p:nvPr/>
        </p:nvSpPr>
        <p:spPr>
          <a:xfrm>
            <a:off x="7223760" y="2468880"/>
            <a:ext cx="2743200" cy="640080"/>
          </a:xfrm>
          <a:prstGeom prst="rect">
            <a:avLst/>
          </a:prstGeom>
          <a:noFill/>
          <a:ln/>
        </p:spPr>
        <p:txBody>
          <a:bodyPr wrap="square" lIns="0" tIns="0" rIns="0" bIns="0" rtlCol="0" anchor="ctr"/>
          <a:lstStyle/>
          <a:p>
            <a:pPr indent="0" marL="0">
              <a:buNone/>
            </a:pPr>
            <a:r>
              <a:rPr lang="en-US" sz="4000" b="1" dirty="0">
                <a:solidFill>
                  <a:srgbClr val="F2B33D"/>
                </a:solidFill>
                <a:latin typeface="Arial" pitchFamily="34" charset="0"/>
                <a:ea typeface="Arial" pitchFamily="34" charset="-122"/>
                <a:cs typeface="Arial" pitchFamily="34" charset="-120"/>
              </a:rPr>
              <a:t>4–5</a:t>
            </a:r>
            <a:endParaRPr lang="en-US" sz="4000" dirty="0"/>
          </a:p>
        </p:txBody>
      </p:sp>
      <p:sp>
        <p:nvSpPr>
          <p:cNvPr id="8" name="Text 6"/>
          <p:cNvSpPr txBox="1"/>
          <p:nvPr/>
        </p:nvSpPr>
        <p:spPr>
          <a:xfrm>
            <a:off x="7223760" y="3154680"/>
            <a:ext cx="4023360" cy="73152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platform IDs per artist, none interchangeable, none authorized by the artist</a:t>
            </a:r>
            <a:endParaRPr lang="en-US" sz="1350" dirty="0"/>
          </a:p>
        </p:txBody>
      </p:sp>
      <p:sp>
        <p:nvSpPr>
          <p:cNvPr id="9" name="Text 7"/>
          <p:cNvSpPr txBox="1"/>
          <p:nvPr/>
        </p:nvSpPr>
        <p:spPr>
          <a:xfrm>
            <a:off x="7223760" y="4023360"/>
            <a:ext cx="2743200" cy="640080"/>
          </a:xfrm>
          <a:prstGeom prst="rect">
            <a:avLst/>
          </a:prstGeom>
          <a:noFill/>
          <a:ln/>
        </p:spPr>
        <p:txBody>
          <a:bodyPr wrap="square" lIns="0" tIns="0" rIns="0" bIns="0" rtlCol="0" anchor="ctr"/>
          <a:lstStyle/>
          <a:p>
            <a:pPr indent="0" marL="0">
              <a:buNone/>
            </a:pPr>
            <a:r>
              <a:rPr lang="en-US" sz="4000" b="1" dirty="0">
                <a:solidFill>
                  <a:srgbClr val="9A8CFF"/>
                </a:solidFill>
                <a:latin typeface="Arial" pitchFamily="34" charset="0"/>
                <a:ea typeface="Arial" pitchFamily="34" charset="-122"/>
                <a:cs typeface="Arial" pitchFamily="34" charset="-120"/>
              </a:rPr>
              <a:t>1</a:t>
            </a:r>
            <a:endParaRPr lang="en-US" sz="4000" dirty="0"/>
          </a:p>
        </p:txBody>
      </p:sp>
      <p:sp>
        <p:nvSpPr>
          <p:cNvPr id="10" name="Text 8"/>
          <p:cNvSpPr txBox="1"/>
          <p:nvPr/>
        </p:nvSpPr>
        <p:spPr>
          <a:xfrm>
            <a:off x="7223760" y="4709160"/>
            <a:ext cx="4023360" cy="54864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answer we needed: who is this, and who is allowed to say so</a:t>
            </a:r>
            <a:endParaRPr lang="en-US" sz="1350" dirty="0"/>
          </a:p>
        </p:txBody>
      </p:sp>
      <p:sp>
        <p:nvSpPr>
          <p:cNvPr id="11" name="Text 9"/>
          <p:cNvSpPr txBox="1"/>
          <p:nvPr/>
        </p:nvSpPr>
        <p:spPr>
          <a:xfrm>
            <a:off x="777240" y="5806440"/>
            <a:ext cx="10515600" cy="32004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The team was already building SplitNight, an RGB settlement application on Bitcoin. O2A is the identity layer that work was missing.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04</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Why it matters</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A booking is a chain of trust with no</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verifiable link.</a:t>
            </a:r>
            <a:endParaRPr lang="en-US" sz="3600" dirty="0"/>
          </a:p>
        </p:txBody>
      </p:sp>
      <p:sp>
        <p:nvSpPr>
          <p:cNvPr id="6" name="Shape 4"/>
          <p:cNvSpPr/>
          <p:nvPr/>
        </p:nvSpPr>
        <p:spPr>
          <a:xfrm>
            <a:off x="777240" y="2514600"/>
            <a:ext cx="3246120" cy="2011680"/>
          </a:xfrm>
          <a:prstGeom prst="roundRect">
            <a:avLst>
              <a:gd name="adj" fmla="val 3636"/>
            </a:avLst>
          </a:prstGeom>
          <a:solidFill>
            <a:srgbClr val="141A40"/>
          </a:solidFill>
          <a:ln w="9525">
            <a:solidFill>
              <a:srgbClr val="282E53"/>
            </a:solidFill>
            <a:prstDash val="solid"/>
          </a:ln>
        </p:spPr>
      </p:sp>
      <p:sp>
        <p:nvSpPr>
          <p:cNvPr id="7" name="Text 5"/>
          <p:cNvSpPr txBox="1"/>
          <p:nvPr/>
        </p:nvSpPr>
        <p:spPr>
          <a:xfrm>
            <a:off x="1005840" y="2697480"/>
            <a:ext cx="283464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Fake promoters</a:t>
            </a:r>
            <a:endParaRPr lang="en-US" sz="1600" dirty="0"/>
          </a:p>
        </p:txBody>
      </p:sp>
      <p:sp>
        <p:nvSpPr>
          <p:cNvPr id="8" name="Text 6"/>
          <p:cNvSpPr txBox="1"/>
          <p:nvPr/>
        </p:nvSpPr>
        <p:spPr>
          <a:xfrm>
            <a:off x="1005840" y="3108960"/>
            <a:ext cx="2834640" cy="13258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Anyone can announce a show with an artist's name. There is no signature to check, so fans, venues and press take it on faith.</a:t>
            </a:r>
            <a:endParaRPr lang="en-US" sz="1350" dirty="0"/>
          </a:p>
        </p:txBody>
      </p:sp>
      <p:sp>
        <p:nvSpPr>
          <p:cNvPr id="9" name="Shape 7"/>
          <p:cNvSpPr/>
          <p:nvPr/>
        </p:nvSpPr>
        <p:spPr>
          <a:xfrm>
            <a:off x="4297680" y="2514600"/>
            <a:ext cx="3246120" cy="2011680"/>
          </a:xfrm>
          <a:prstGeom prst="roundRect">
            <a:avLst>
              <a:gd name="adj" fmla="val 3636"/>
            </a:avLst>
          </a:prstGeom>
          <a:solidFill>
            <a:srgbClr val="141A40"/>
          </a:solidFill>
          <a:ln w="9525">
            <a:solidFill>
              <a:srgbClr val="282E53"/>
            </a:solidFill>
            <a:prstDash val="solid"/>
          </a:ln>
        </p:spPr>
      </p:sp>
      <p:sp>
        <p:nvSpPr>
          <p:cNvPr id="10" name="Text 8"/>
          <p:cNvSpPr txBox="1"/>
          <p:nvPr/>
        </p:nvSpPr>
        <p:spPr>
          <a:xfrm>
            <a:off x="4526280" y="2697480"/>
            <a:ext cx="283464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Spoofed profiles</a:t>
            </a:r>
            <a:endParaRPr lang="en-US" sz="1600" dirty="0"/>
          </a:p>
        </p:txBody>
      </p:sp>
      <p:sp>
        <p:nvSpPr>
          <p:cNvPr id="11" name="Text 9"/>
          <p:cNvSpPr txBox="1"/>
          <p:nvPr/>
        </p:nvSpPr>
        <p:spPr>
          <a:xfrm>
            <a:off x="4526280" y="3108960"/>
            <a:ext cx="2834640" cy="13258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An artist's identity is a platform account that can be hacked, cloned or suspended. Losing it means losing the history behind it.</a:t>
            </a:r>
            <a:endParaRPr lang="en-US" sz="1350" dirty="0"/>
          </a:p>
        </p:txBody>
      </p:sp>
      <p:sp>
        <p:nvSpPr>
          <p:cNvPr id="12" name="Shape 10"/>
          <p:cNvSpPr/>
          <p:nvPr/>
        </p:nvSpPr>
        <p:spPr>
          <a:xfrm>
            <a:off x="7818120" y="2514600"/>
            <a:ext cx="3246120" cy="2011680"/>
          </a:xfrm>
          <a:prstGeom prst="roundRect">
            <a:avLst>
              <a:gd name="adj" fmla="val 3636"/>
            </a:avLst>
          </a:prstGeom>
          <a:solidFill>
            <a:srgbClr val="141A40"/>
          </a:solidFill>
          <a:ln w="9525">
            <a:solidFill>
              <a:srgbClr val="282E53"/>
            </a:solidFill>
            <a:prstDash val="solid"/>
          </a:ln>
        </p:spPr>
      </p:sp>
      <p:sp>
        <p:nvSpPr>
          <p:cNvPr id="13" name="Text 11"/>
          <p:cNvSpPr txBox="1"/>
          <p:nvPr/>
        </p:nvSpPr>
        <p:spPr>
          <a:xfrm>
            <a:off x="8046720" y="2697480"/>
            <a:ext cx="283464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Disputes with no record</a:t>
            </a:r>
            <a:endParaRPr lang="en-US" sz="1600" dirty="0"/>
          </a:p>
        </p:txBody>
      </p:sp>
      <p:sp>
        <p:nvSpPr>
          <p:cNvPr id="14" name="Text 12"/>
          <p:cNvSpPr txBox="1"/>
          <p:nvPr/>
        </p:nvSpPr>
        <p:spPr>
          <a:xfrm>
            <a:off x="8046720" y="3108960"/>
            <a:ext cx="2834640" cy="13258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Who confirmed the date? Who authorized the poster? Who gets paid? Today the answer lives in emails and screenshots.</a:t>
            </a:r>
            <a:endParaRPr lang="en-US" sz="1350" dirty="0"/>
          </a:p>
        </p:txBody>
      </p:sp>
      <p:sp>
        <p:nvSpPr>
          <p:cNvPr id="15" name="Text 13"/>
          <p:cNvSpPr txBox="1"/>
          <p:nvPr/>
        </p:nvSpPr>
        <p:spPr>
          <a:xfrm>
            <a:off x="777240" y="4892040"/>
            <a:ext cx="10058400" cy="822960"/>
          </a:xfrm>
          <a:prstGeom prst="rect">
            <a:avLst/>
          </a:prstGeom>
          <a:noFill/>
          <a:ln/>
        </p:spPr>
        <p:txBody>
          <a:bodyPr wrap="square" lIns="0" tIns="0" rIns="0" bIns="0" rtlCol="0" anchor="t"/>
          <a:lstStyle/>
          <a:p>
            <a:pPr indent="0" marL="0">
              <a:spcAft>
                <a:spcPts val="600"/>
              </a:spcAft>
              <a:buNone/>
            </a:pPr>
            <a:r>
              <a:rPr lang="en-US" sz="1600" dirty="0">
                <a:solidFill>
                  <a:srgbClr val="EEF0FA"/>
                </a:solidFill>
                <a:latin typeface="Arial" pitchFamily="34" charset="0"/>
                <a:ea typeface="Arial" pitchFamily="34" charset="-122"/>
                <a:cs typeface="Arial" pitchFamily="34" charset="-120"/>
              </a:rPr>
              <a:t>Every application that consumes a wrong association spreads it. A shared, verifiable record is how the ecosystem detects and corrects mistakes instead of inheriting them.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230"/>
        </a:solidFill>
      </p:bgPr>
    </p:bg>
    <p:spTree>
      <p:nvGrpSpPr>
        <p:cNvPr id="1" name=""/>
        <p:cNvGrpSpPr/>
        <p:nvPr/>
      </p:nvGrpSpPr>
      <p:grpSpPr>
        <a:xfrm>
          <a:off x="0" y="0"/>
          <a:ext cx="0" cy="0"/>
          <a:chOff x="0" y="0"/>
          <a:chExt cx="0" cy="0"/>
        </a:xfrm>
      </p:grpSpPr>
      <p:sp>
        <p:nvSpPr>
          <p:cNvPr id="2" name="Shape 0"/>
          <p:cNvSpPr/>
          <p:nvPr/>
        </p:nvSpPr>
        <p:spPr>
          <a:xfrm>
            <a:off x="8877910" y="-2179930"/>
            <a:ext cx="4754880" cy="4754880"/>
          </a:xfrm>
          <a:prstGeom prst="ellipse">
            <a:avLst/>
          </a:prstGeom>
          <a:ln w="9525">
            <a:solidFill>
              <a:srgbClr val="232A55"/>
            </a:solidFill>
            <a:prstDash val="solid"/>
          </a:ln>
        </p:spPr>
      </p:sp>
      <p:sp>
        <p:nvSpPr>
          <p:cNvPr id="3" name="Shape 1"/>
          <p:cNvSpPr/>
          <p:nvPr/>
        </p:nvSpPr>
        <p:spPr>
          <a:xfrm>
            <a:off x="7630668" y="-3024835"/>
            <a:ext cx="6766560" cy="6766560"/>
          </a:xfrm>
          <a:prstGeom prst="ellipse">
            <a:avLst/>
          </a:prstGeom>
          <a:ln w="9525">
            <a:solidFill>
              <a:srgbClr val="232A55"/>
            </a:solidFill>
            <a:prstDash val="solid"/>
          </a:ln>
        </p:spPr>
      </p:sp>
      <p:sp>
        <p:nvSpPr>
          <p:cNvPr id="4" name="Shape 2"/>
          <p:cNvSpPr/>
          <p:nvPr/>
        </p:nvSpPr>
        <p:spPr>
          <a:xfrm>
            <a:off x="6383426" y="-3869741"/>
            <a:ext cx="8778240" cy="8778240"/>
          </a:xfrm>
          <a:prstGeom prst="ellipse">
            <a:avLst/>
          </a:prstGeom>
          <a:ln w="9525">
            <a:solidFill>
              <a:srgbClr val="232A55"/>
            </a:solidFill>
            <a:prstDash val="solid"/>
          </a:ln>
        </p:spPr>
      </p:sp>
      <p:sp>
        <p:nvSpPr>
          <p:cNvPr id="5" name="Text 3"/>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6" name="Text 4"/>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05</a:t>
            </a:r>
            <a:endParaRPr lang="en-US" sz="1100" dirty="0"/>
          </a:p>
        </p:txBody>
      </p:sp>
      <p:sp>
        <p:nvSpPr>
          <p:cNvPr id="7" name="Text 5"/>
          <p:cNvSpPr txBox="1"/>
          <p:nvPr/>
        </p:nvSpPr>
        <p:spPr>
          <a:xfrm>
            <a:off x="777240" y="1234440"/>
            <a:ext cx="9144000" cy="3291840"/>
          </a:xfrm>
          <a:prstGeom prst="rect">
            <a:avLst/>
          </a:prstGeom>
          <a:noFill/>
          <a:ln/>
        </p:spPr>
        <p:txBody>
          <a:bodyPr wrap="square" lIns="0" tIns="0" rIns="0" bIns="0" rtlCol="0" anchor="t"/>
          <a:lstStyle/>
          <a:p>
            <a:pPr indent="0" marL="0">
              <a:buNone/>
            </a:pPr>
            <a:r>
              <a:rPr lang="en-US" sz="6400" b="1" dirty="0">
                <a:solidFill>
                  <a:srgbClr val="EEF0FA"/>
                </a:solidFill>
                <a:latin typeface="Arial" pitchFamily="34" charset="0"/>
                <a:ea typeface="Arial" pitchFamily="34" charset="-122"/>
                <a:cs typeface="Arial" pitchFamily="34" charset="-120"/>
              </a:rPr>
              <a:t>Your key.</a:t>
            </a:r>
            <a:endParaRPr lang="en-US" sz="6400" dirty="0"/>
          </a:p>
          <a:p>
            <a:pPr indent="0" marL="0">
              <a:buNone/>
            </a:pPr>
            <a:r>
              <a:rPr lang="en-US" sz="6400" b="1" dirty="0">
                <a:solidFill>
                  <a:srgbClr val="9A8CFF"/>
                </a:solidFill>
                <a:latin typeface="Arial" pitchFamily="34" charset="0"/>
                <a:ea typeface="Arial" pitchFamily="34" charset="-122"/>
                <a:cs typeface="Arial" pitchFamily="34" charset="-120"/>
              </a:rPr>
              <a:t>Your identity.</a:t>
            </a:r>
            <a:endParaRPr lang="en-US" sz="6400" dirty="0"/>
          </a:p>
          <a:p>
            <a:pPr indent="0" marL="0">
              <a:buNone/>
            </a:pPr>
            <a:r>
              <a:rPr lang="en-US" sz="6400" b="1" dirty="0">
                <a:solidFill>
                  <a:srgbClr val="F2B33D"/>
                </a:solidFill>
                <a:latin typeface="Arial" pitchFamily="34" charset="0"/>
                <a:ea typeface="Arial" pitchFamily="34" charset="-122"/>
                <a:cs typeface="Arial" pitchFamily="34" charset="-120"/>
              </a:rPr>
              <a:t>Your evidence.</a:t>
            </a:r>
            <a:endParaRPr lang="en-US" sz="6400" dirty="0"/>
          </a:p>
        </p:txBody>
      </p:sp>
      <p:sp>
        <p:nvSpPr>
          <p:cNvPr id="8" name="Text 6"/>
          <p:cNvSpPr txBox="1"/>
          <p:nvPr/>
        </p:nvSpPr>
        <p:spPr>
          <a:xfrm>
            <a:off x="777240" y="4754880"/>
            <a:ext cx="8229600" cy="731520"/>
          </a:xfrm>
          <a:prstGeom prst="rect">
            <a:avLst/>
          </a:prstGeom>
          <a:noFill/>
          <a:ln/>
        </p:spPr>
        <p:txBody>
          <a:bodyPr wrap="square" lIns="0" tIns="0" rIns="0" bIns="0" rtlCol="0" anchor="t"/>
          <a:lstStyle/>
          <a:p>
            <a:pPr indent="0" marL="0">
              <a:spcAft>
                <a:spcPts val="600"/>
              </a:spcAft>
              <a:buNone/>
            </a:pPr>
            <a:r>
              <a:rPr lang="en-US" sz="1700" dirty="0">
                <a:solidFill>
                  <a:srgbClr val="B9BEDD"/>
                </a:solidFill>
                <a:latin typeface="Arial" pitchFamily="34" charset="0"/>
                <a:ea typeface="Arial" pitchFamily="34" charset="-122"/>
                <a:cs typeface="Arial" pitchFamily="34" charset="-120"/>
              </a:rPr>
              <a:t>A public identity rooted in Bitcoin, held in the owner's wallet, with a history any compatible wallet can verify on its own.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06</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What an EntityID is</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One ID per participant. Six kinds of</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participant.</a:t>
            </a:r>
            <a:endParaRPr lang="en-US" sz="3600" dirty="0"/>
          </a:p>
        </p:txBody>
      </p:sp>
      <p:sp>
        <p:nvSpPr>
          <p:cNvPr id="6" name="Text 4"/>
          <p:cNvSpPr txBox="1"/>
          <p:nvPr/>
        </p:nvSpPr>
        <p:spPr>
          <a:xfrm>
            <a:off x="777240" y="2468880"/>
            <a:ext cx="10241280" cy="1097280"/>
          </a:xfrm>
          <a:prstGeom prst="rect">
            <a:avLst/>
          </a:prstGeom>
          <a:noFill/>
          <a:ln/>
        </p:spPr>
        <p:txBody>
          <a:bodyPr wrap="square" lIns="0" tIns="0" rIns="0" bIns="0" rtlCol="0" anchor="t"/>
          <a:lstStyle/>
          <a:p>
            <a:pPr indent="0" marL="0">
              <a:spcAft>
                <a:spcPts val="600"/>
              </a:spcAft>
              <a:buNone/>
            </a:pPr>
            <a:r>
              <a:rPr lang="en-US" sz="1600" dirty="0">
                <a:solidFill>
                  <a:srgbClr val="B9BEDD"/>
                </a:solidFill>
                <a:latin typeface="Arial" pitchFamily="34" charset="0"/>
                <a:ea typeface="Arial" pitchFamily="34" charset="-122"/>
                <a:cs typeface="Arial" pitchFamily="34" charset="-120"/>
              </a:rPr>
              <a:t>Each identity is rooted in its own key and its signed genesis: the ID is the genesis's fingerprint, so no one can create a second identity with the same ID. Day-to-day signing keys rotate without erasing the public ID. An event or an album lives in the responsible wallet but stays an independent identity of its own.</a:t>
            </a:r>
            <a:endParaRPr lang="en-US" sz="1600" dirty="0"/>
          </a:p>
        </p:txBody>
      </p:sp>
      <p:sp>
        <p:nvSpPr>
          <p:cNvPr id="7" name="Shape 5"/>
          <p:cNvSpPr/>
          <p:nvPr/>
        </p:nvSpPr>
        <p:spPr>
          <a:xfrm>
            <a:off x="777240" y="3840480"/>
            <a:ext cx="1554480" cy="0"/>
          </a:xfrm>
          <a:prstGeom prst="line">
            <a:avLst/>
          </a:prstGeom>
          <a:noFill/>
          <a:ln w="19050">
            <a:solidFill>
              <a:srgbClr val="9A8CFF"/>
            </a:solidFill>
            <a:prstDash val="solid"/>
          </a:ln>
        </p:spPr>
      </p:sp>
      <p:sp>
        <p:nvSpPr>
          <p:cNvPr id="8" name="Text 6"/>
          <p:cNvSpPr txBox="1"/>
          <p:nvPr/>
        </p:nvSpPr>
        <p:spPr>
          <a:xfrm>
            <a:off x="777240" y="3977640"/>
            <a:ext cx="160020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Artist</a:t>
            </a:r>
            <a:endParaRPr lang="en-US" sz="1600" dirty="0"/>
          </a:p>
        </p:txBody>
      </p:sp>
      <p:sp>
        <p:nvSpPr>
          <p:cNvPr id="9" name="Text 7"/>
          <p:cNvSpPr txBox="1"/>
          <p:nvPr/>
        </p:nvSpPr>
        <p:spPr>
          <a:xfrm>
            <a:off x="777240" y="4343400"/>
            <a:ext cx="1600200" cy="91440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Signs claims, attestations and authorizations</a:t>
            </a:r>
            <a:endParaRPr lang="en-US" sz="1200" dirty="0"/>
          </a:p>
        </p:txBody>
      </p:sp>
      <p:sp>
        <p:nvSpPr>
          <p:cNvPr id="10" name="Shape 8"/>
          <p:cNvSpPr/>
          <p:nvPr/>
        </p:nvSpPr>
        <p:spPr>
          <a:xfrm>
            <a:off x="2560320" y="3840480"/>
            <a:ext cx="1554480" cy="0"/>
          </a:xfrm>
          <a:prstGeom prst="line">
            <a:avLst/>
          </a:prstGeom>
          <a:noFill/>
          <a:ln w="19050">
            <a:solidFill>
              <a:srgbClr val="9A8CFF"/>
            </a:solidFill>
            <a:prstDash val="solid"/>
          </a:ln>
        </p:spPr>
      </p:sp>
      <p:sp>
        <p:nvSpPr>
          <p:cNvPr id="11" name="Text 9"/>
          <p:cNvSpPr txBox="1"/>
          <p:nvPr/>
        </p:nvSpPr>
        <p:spPr>
          <a:xfrm>
            <a:off x="2560320" y="3977640"/>
            <a:ext cx="160020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Venue</a:t>
            </a:r>
            <a:endParaRPr lang="en-US" sz="1600" dirty="0"/>
          </a:p>
        </p:txBody>
      </p:sp>
      <p:sp>
        <p:nvSpPr>
          <p:cNvPr id="12" name="Text 10"/>
          <p:cNvSpPr txBox="1"/>
          <p:nvPr/>
        </p:nvSpPr>
        <p:spPr>
          <a:xfrm>
            <a:off x="2560320" y="4343400"/>
            <a:ext cx="1600200" cy="91440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Confirms performances and bookings</a:t>
            </a:r>
            <a:endParaRPr lang="en-US" sz="1200" dirty="0"/>
          </a:p>
        </p:txBody>
      </p:sp>
      <p:sp>
        <p:nvSpPr>
          <p:cNvPr id="13" name="Shape 11"/>
          <p:cNvSpPr/>
          <p:nvPr/>
        </p:nvSpPr>
        <p:spPr>
          <a:xfrm>
            <a:off x="4343400" y="3840480"/>
            <a:ext cx="1554480" cy="0"/>
          </a:xfrm>
          <a:prstGeom prst="line">
            <a:avLst/>
          </a:prstGeom>
          <a:noFill/>
          <a:ln w="19050">
            <a:solidFill>
              <a:srgbClr val="9A8CFF"/>
            </a:solidFill>
            <a:prstDash val="solid"/>
          </a:ln>
        </p:spPr>
      </p:sp>
      <p:sp>
        <p:nvSpPr>
          <p:cNvPr id="14" name="Text 12"/>
          <p:cNvSpPr txBox="1"/>
          <p:nvPr/>
        </p:nvSpPr>
        <p:spPr>
          <a:xfrm>
            <a:off x="4343400" y="3977640"/>
            <a:ext cx="160020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Promoter</a:t>
            </a:r>
            <a:endParaRPr lang="en-US" sz="1600" dirty="0"/>
          </a:p>
        </p:txBody>
      </p:sp>
      <p:sp>
        <p:nvSpPr>
          <p:cNvPr id="15" name="Text 13"/>
          <p:cNvSpPr txBox="1"/>
          <p:nvPr/>
        </p:nvSpPr>
        <p:spPr>
          <a:xfrm>
            <a:off x="4343400" y="4343400"/>
            <a:ext cx="1600200" cy="91440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Confirms dates and representation</a:t>
            </a:r>
            <a:endParaRPr lang="en-US" sz="1200" dirty="0"/>
          </a:p>
        </p:txBody>
      </p:sp>
      <p:sp>
        <p:nvSpPr>
          <p:cNvPr id="16" name="Shape 14"/>
          <p:cNvSpPr/>
          <p:nvPr/>
        </p:nvSpPr>
        <p:spPr>
          <a:xfrm>
            <a:off x="6126480" y="3840480"/>
            <a:ext cx="1554480" cy="0"/>
          </a:xfrm>
          <a:prstGeom prst="line">
            <a:avLst/>
          </a:prstGeom>
          <a:noFill/>
          <a:ln w="19050">
            <a:solidFill>
              <a:srgbClr val="9A8CFF"/>
            </a:solidFill>
            <a:prstDash val="solid"/>
          </a:ln>
        </p:spPr>
      </p:sp>
      <p:sp>
        <p:nvSpPr>
          <p:cNvPr id="17" name="Text 15"/>
          <p:cNvSpPr txBox="1"/>
          <p:nvPr/>
        </p:nvSpPr>
        <p:spPr>
          <a:xfrm>
            <a:off x="6126480" y="3977640"/>
            <a:ext cx="160020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Label</a:t>
            </a:r>
            <a:endParaRPr lang="en-US" sz="1600" dirty="0"/>
          </a:p>
        </p:txBody>
      </p:sp>
      <p:sp>
        <p:nvSpPr>
          <p:cNvPr id="18" name="Text 16"/>
          <p:cNvSpPr txBox="1"/>
          <p:nvPr/>
        </p:nvSpPr>
        <p:spPr>
          <a:xfrm>
            <a:off x="6126480" y="4343400"/>
            <a:ext cx="1600200" cy="91440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Endorses catalog and associations</a:t>
            </a:r>
            <a:endParaRPr lang="en-US" sz="1200" dirty="0"/>
          </a:p>
        </p:txBody>
      </p:sp>
      <p:sp>
        <p:nvSpPr>
          <p:cNvPr id="19" name="Shape 17"/>
          <p:cNvSpPr/>
          <p:nvPr/>
        </p:nvSpPr>
        <p:spPr>
          <a:xfrm>
            <a:off x="7909560" y="3840480"/>
            <a:ext cx="1554480" cy="0"/>
          </a:xfrm>
          <a:prstGeom prst="line">
            <a:avLst/>
          </a:prstGeom>
          <a:noFill/>
          <a:ln w="19050">
            <a:solidFill>
              <a:srgbClr val="9A8CFF"/>
            </a:solidFill>
            <a:prstDash val="solid"/>
          </a:ln>
        </p:spPr>
      </p:sp>
      <p:sp>
        <p:nvSpPr>
          <p:cNvPr id="20" name="Text 18"/>
          <p:cNvSpPr txBox="1"/>
          <p:nvPr/>
        </p:nvSpPr>
        <p:spPr>
          <a:xfrm>
            <a:off x="7909560" y="3977640"/>
            <a:ext cx="160020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Event</a:t>
            </a:r>
            <a:endParaRPr lang="en-US" sz="1600" dirty="0"/>
          </a:p>
        </p:txBody>
      </p:sp>
      <p:sp>
        <p:nvSpPr>
          <p:cNvPr id="21" name="Text 19"/>
          <p:cNvSpPr txBox="1"/>
          <p:nvPr/>
        </p:nvSpPr>
        <p:spPr>
          <a:xfrm>
            <a:off x="7909560" y="4343400"/>
            <a:ext cx="1600200" cy="91440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A show with a versioned, hashed manifest</a:t>
            </a:r>
            <a:endParaRPr lang="en-US" sz="1200" dirty="0"/>
          </a:p>
        </p:txBody>
      </p:sp>
      <p:sp>
        <p:nvSpPr>
          <p:cNvPr id="22" name="Shape 20"/>
          <p:cNvSpPr/>
          <p:nvPr/>
        </p:nvSpPr>
        <p:spPr>
          <a:xfrm>
            <a:off x="9692640" y="3840480"/>
            <a:ext cx="1554480" cy="0"/>
          </a:xfrm>
          <a:prstGeom prst="line">
            <a:avLst/>
          </a:prstGeom>
          <a:noFill/>
          <a:ln w="19050">
            <a:solidFill>
              <a:srgbClr val="9A8CFF"/>
            </a:solidFill>
            <a:prstDash val="solid"/>
          </a:ln>
        </p:spPr>
      </p:sp>
      <p:sp>
        <p:nvSpPr>
          <p:cNvPr id="23" name="Text 21"/>
          <p:cNvSpPr txBox="1"/>
          <p:nvPr/>
        </p:nvSpPr>
        <p:spPr>
          <a:xfrm>
            <a:off x="9692640" y="3977640"/>
            <a:ext cx="160020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Album</a:t>
            </a:r>
            <a:endParaRPr lang="en-US" sz="1600" dirty="0"/>
          </a:p>
        </p:txBody>
      </p:sp>
      <p:sp>
        <p:nvSpPr>
          <p:cNvPr id="24" name="Text 22"/>
          <p:cNvSpPr txBox="1"/>
          <p:nvPr/>
        </p:nvSpPr>
        <p:spPr>
          <a:xfrm>
            <a:off x="9692640" y="4343400"/>
            <a:ext cx="1600200" cy="91440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A work with a versioned, hashed manifest</a:t>
            </a:r>
            <a:endParaRPr lang="en-US" sz="1200" dirty="0"/>
          </a:p>
        </p:txBody>
      </p:sp>
      <p:sp>
        <p:nvSpPr>
          <p:cNvPr id="25" name="Text 23"/>
          <p:cNvSpPr txBox="1"/>
          <p:nvPr/>
        </p:nvSpPr>
        <p:spPr>
          <a:xfrm>
            <a:off x="777240" y="5577840"/>
            <a:ext cx="10607040" cy="50292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A human-readable name is a claim backed by evidence, not a username locked forever by whoever typed it first. Wallets show the evidence, the conflicts and the chronology, and apply their own policy.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07</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How it works</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Three layers. Three questions. Never</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collapsed into one.</a:t>
            </a:r>
            <a:endParaRPr lang="en-US" sz="3600" dirty="0"/>
          </a:p>
        </p:txBody>
      </p:sp>
      <p:sp>
        <p:nvSpPr>
          <p:cNvPr id="6" name="Shape 4"/>
          <p:cNvSpPr/>
          <p:nvPr/>
        </p:nvSpPr>
        <p:spPr>
          <a:xfrm>
            <a:off x="777240" y="2377440"/>
            <a:ext cx="10637215" cy="896112"/>
          </a:xfrm>
          <a:prstGeom prst="roundRect">
            <a:avLst>
              <a:gd name="adj" fmla="val 8163"/>
            </a:avLst>
          </a:prstGeom>
          <a:solidFill>
            <a:srgbClr val="141A40"/>
          </a:solidFill>
          <a:ln w="9525">
            <a:solidFill>
              <a:srgbClr val="282E53"/>
            </a:solidFill>
            <a:prstDash val="solid"/>
          </a:ln>
        </p:spPr>
      </p:sp>
      <p:sp>
        <p:nvSpPr>
          <p:cNvPr id="7" name="Text 5"/>
          <p:cNvSpPr txBox="1"/>
          <p:nvPr/>
        </p:nvSpPr>
        <p:spPr>
          <a:xfrm>
            <a:off x="1051560" y="2633472"/>
            <a:ext cx="2011680" cy="411480"/>
          </a:xfrm>
          <a:prstGeom prst="rect">
            <a:avLst/>
          </a:prstGeom>
          <a:noFill/>
          <a:ln/>
        </p:spPr>
        <p:txBody>
          <a:bodyPr wrap="square" lIns="0" tIns="0" rIns="0" bIns="0" rtlCol="0" anchor="ctr"/>
          <a:lstStyle/>
          <a:p>
            <a:pPr indent="0" marL="0">
              <a:buNone/>
            </a:pPr>
            <a:r>
              <a:rPr lang="en-US" sz="2200" b="1" dirty="0">
                <a:solidFill>
                  <a:srgbClr val="F2B33D"/>
                </a:solidFill>
                <a:latin typeface="Arial" pitchFamily="34" charset="0"/>
                <a:ea typeface="Arial" pitchFamily="34" charset="-122"/>
                <a:cs typeface="Arial" pitchFamily="34" charset="-120"/>
              </a:rPr>
              <a:t>Bitcoin</a:t>
            </a:r>
            <a:endParaRPr lang="en-US" sz="2200" dirty="0"/>
          </a:p>
        </p:txBody>
      </p:sp>
      <p:sp>
        <p:nvSpPr>
          <p:cNvPr id="8" name="Text 6"/>
          <p:cNvSpPr txBox="1"/>
          <p:nvPr/>
        </p:nvSpPr>
        <p:spPr>
          <a:xfrm>
            <a:off x="3063240" y="2532888"/>
            <a:ext cx="4572000" cy="640080"/>
          </a:xfrm>
          <a:prstGeom prst="rect">
            <a:avLst/>
          </a:prstGeom>
          <a:noFill/>
          <a:ln/>
        </p:spPr>
        <p:txBody>
          <a:bodyPr wrap="square" lIns="0" tIns="0" rIns="0" bIns="0" rtlCol="0" anchor="ctr"/>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Orders the facts and seals them. Once anchored, the history cannot be rewritten.</a:t>
            </a:r>
            <a:endParaRPr lang="en-US" sz="1350" dirty="0"/>
          </a:p>
        </p:txBody>
      </p:sp>
      <p:sp>
        <p:nvSpPr>
          <p:cNvPr id="9" name="Text 7"/>
          <p:cNvSpPr txBox="1"/>
          <p:nvPr/>
        </p:nvSpPr>
        <p:spPr>
          <a:xfrm>
            <a:off x="7772400" y="2560320"/>
            <a:ext cx="3429000" cy="566928"/>
          </a:xfrm>
          <a:prstGeom prst="rect">
            <a:avLst/>
          </a:prstGeom>
          <a:noFill/>
          <a:ln/>
        </p:spPr>
        <p:txBody>
          <a:bodyPr wrap="square" lIns="0" tIns="0" rIns="0" bIns="0" rtlCol="0" anchor="ctr"/>
          <a:lstStyle/>
          <a:p>
            <a:pPr algn="r" indent="0" marL="0">
              <a:buNone/>
            </a:pPr>
            <a:r>
              <a:rPr lang="en-US" sz="1000" dirty="0">
                <a:solidFill>
                  <a:srgbClr val="7E85B0"/>
                </a:solidFill>
                <a:latin typeface="Consolas" pitchFamily="34" charset="0"/>
                <a:ea typeface="Consolas" pitchFamily="34" charset="-122"/>
                <a:cs typeface="Consolas" pitchFamily="34" charset="-120"/>
              </a:rPr>
              <a:t>answers: when, and in what order</a:t>
            </a:r>
            <a:endParaRPr lang="en-US" sz="1000" dirty="0"/>
          </a:p>
          <a:p>
            <a:pPr algn="r" indent="0" marL="0">
              <a:buNone/>
            </a:pPr>
            <a:r>
              <a:rPr lang="en-US" sz="1000" dirty="0">
                <a:solidFill>
                  <a:srgbClr val="7E85B0"/>
                </a:solidFill>
                <a:latin typeface="Consolas" pitchFamily="34" charset="0"/>
                <a:ea typeface="Consolas" pitchFamily="34" charset="-122"/>
                <a:cs typeface="Consolas" pitchFamily="34" charset="-120"/>
              </a:rPr>
              <a:t>does not answer: who</a:t>
            </a:r>
            <a:endParaRPr lang="en-US" sz="1000" dirty="0"/>
          </a:p>
        </p:txBody>
      </p:sp>
      <p:sp>
        <p:nvSpPr>
          <p:cNvPr id="10" name="Shape 8"/>
          <p:cNvSpPr/>
          <p:nvPr/>
        </p:nvSpPr>
        <p:spPr>
          <a:xfrm>
            <a:off x="777240" y="3401568"/>
            <a:ext cx="10637215" cy="896112"/>
          </a:xfrm>
          <a:prstGeom prst="roundRect">
            <a:avLst>
              <a:gd name="adj" fmla="val 8163"/>
            </a:avLst>
          </a:prstGeom>
          <a:solidFill>
            <a:srgbClr val="141A40"/>
          </a:solidFill>
          <a:ln w="9525">
            <a:solidFill>
              <a:srgbClr val="282E53"/>
            </a:solidFill>
            <a:prstDash val="solid"/>
          </a:ln>
        </p:spPr>
      </p:sp>
      <p:sp>
        <p:nvSpPr>
          <p:cNvPr id="11" name="Text 9"/>
          <p:cNvSpPr txBox="1"/>
          <p:nvPr/>
        </p:nvSpPr>
        <p:spPr>
          <a:xfrm>
            <a:off x="1051560" y="3657600"/>
            <a:ext cx="2011680" cy="411480"/>
          </a:xfrm>
          <a:prstGeom prst="rect">
            <a:avLst/>
          </a:prstGeom>
          <a:noFill/>
          <a:ln/>
        </p:spPr>
        <p:txBody>
          <a:bodyPr wrap="square" lIns="0" tIns="0" rIns="0" bIns="0" rtlCol="0" anchor="ctr"/>
          <a:lstStyle/>
          <a:p>
            <a:pPr indent="0" marL="0">
              <a:buNone/>
            </a:pPr>
            <a:r>
              <a:rPr lang="en-US" sz="2200" b="1" dirty="0">
                <a:solidFill>
                  <a:srgbClr val="9A8CFF"/>
                </a:solidFill>
                <a:latin typeface="Arial" pitchFamily="34" charset="0"/>
                <a:ea typeface="Arial" pitchFamily="34" charset="-122"/>
                <a:cs typeface="Arial" pitchFamily="34" charset="-120"/>
              </a:rPr>
              <a:t>RGB</a:t>
            </a:r>
            <a:endParaRPr lang="en-US" sz="2200" dirty="0"/>
          </a:p>
        </p:txBody>
      </p:sp>
      <p:sp>
        <p:nvSpPr>
          <p:cNvPr id="12" name="Text 10"/>
          <p:cNvSpPr txBox="1"/>
          <p:nvPr/>
        </p:nvSpPr>
        <p:spPr>
          <a:xfrm>
            <a:off x="3063240" y="3557016"/>
            <a:ext cx="4572000" cy="640080"/>
          </a:xfrm>
          <a:prstGeom prst="rect">
            <a:avLst/>
          </a:prstGeom>
          <a:noFill/>
          <a:ln/>
        </p:spPr>
        <p:txBody>
          <a:bodyPr wrap="square" lIns="0" tIns="0" rIns="0" bIns="0" rtlCol="0" anchor="ctr"/>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Carries the identity lifecycle as client-side state: genesis, key rotation, recovery, revocation. Private by default, validated locally. Production line: RGB v0.11.1.</a:t>
            </a:r>
            <a:endParaRPr lang="en-US" sz="1350" dirty="0"/>
          </a:p>
        </p:txBody>
      </p:sp>
      <p:sp>
        <p:nvSpPr>
          <p:cNvPr id="13" name="Text 11"/>
          <p:cNvSpPr txBox="1"/>
          <p:nvPr/>
        </p:nvSpPr>
        <p:spPr>
          <a:xfrm>
            <a:off x="7772400" y="3584448"/>
            <a:ext cx="3429000" cy="566928"/>
          </a:xfrm>
          <a:prstGeom prst="rect">
            <a:avLst/>
          </a:prstGeom>
          <a:noFill/>
          <a:ln/>
        </p:spPr>
        <p:txBody>
          <a:bodyPr wrap="square" lIns="0" tIns="0" rIns="0" bIns="0" rtlCol="0" anchor="ctr"/>
          <a:lstStyle/>
          <a:p>
            <a:pPr algn="r" indent="0" marL="0">
              <a:buNone/>
            </a:pPr>
            <a:r>
              <a:rPr lang="en-US" sz="1000" dirty="0">
                <a:solidFill>
                  <a:srgbClr val="7E85B0"/>
                </a:solidFill>
                <a:latin typeface="Consolas" pitchFamily="34" charset="0"/>
                <a:ea typeface="Consolas" pitchFamily="34" charset="-122"/>
                <a:cs typeface="Consolas" pitchFamily="34" charset="-120"/>
              </a:rPr>
              <a:t>answers: is this history valid</a:t>
            </a:r>
            <a:endParaRPr lang="en-US" sz="1000" dirty="0"/>
          </a:p>
          <a:p>
            <a:pPr algn="r" indent="0" marL="0">
              <a:buNone/>
            </a:pPr>
            <a:r>
              <a:rPr lang="en-US" sz="1000" dirty="0">
                <a:solidFill>
                  <a:srgbClr val="7E85B0"/>
                </a:solidFill>
                <a:latin typeface="Consolas" pitchFamily="34" charset="0"/>
                <a:ea typeface="Consolas" pitchFamily="34" charset="-122"/>
                <a:cs typeface="Consolas" pitchFamily="34" charset="-120"/>
              </a:rPr>
              <a:t>does not answer: is this the real artist</a:t>
            </a:r>
            <a:endParaRPr lang="en-US" sz="1000" dirty="0"/>
          </a:p>
        </p:txBody>
      </p:sp>
      <p:sp>
        <p:nvSpPr>
          <p:cNvPr id="14" name="Shape 12"/>
          <p:cNvSpPr/>
          <p:nvPr/>
        </p:nvSpPr>
        <p:spPr>
          <a:xfrm>
            <a:off x="777240" y="4425696"/>
            <a:ext cx="10637215" cy="896112"/>
          </a:xfrm>
          <a:prstGeom prst="roundRect">
            <a:avLst>
              <a:gd name="adj" fmla="val 8163"/>
            </a:avLst>
          </a:prstGeom>
          <a:solidFill>
            <a:srgbClr val="141A40"/>
          </a:solidFill>
          <a:ln w="9525">
            <a:solidFill>
              <a:srgbClr val="282E53"/>
            </a:solidFill>
            <a:prstDash val="solid"/>
          </a:ln>
        </p:spPr>
      </p:sp>
      <p:sp>
        <p:nvSpPr>
          <p:cNvPr id="15" name="Text 13"/>
          <p:cNvSpPr txBox="1"/>
          <p:nvPr/>
        </p:nvSpPr>
        <p:spPr>
          <a:xfrm>
            <a:off x="1051560" y="4681728"/>
            <a:ext cx="2011680" cy="411480"/>
          </a:xfrm>
          <a:prstGeom prst="rect">
            <a:avLst/>
          </a:prstGeom>
          <a:noFill/>
          <a:ln/>
        </p:spPr>
        <p:txBody>
          <a:bodyPr wrap="square" lIns="0" tIns="0" rIns="0" bIns="0" rtlCol="0" anchor="ctr"/>
          <a:lstStyle/>
          <a:p>
            <a:pPr indent="0" marL="0">
              <a:buNone/>
            </a:pPr>
            <a:r>
              <a:rPr lang="en-US" sz="2200" b="1" dirty="0">
                <a:solidFill>
                  <a:srgbClr val="3FD3F0"/>
                </a:solidFill>
                <a:latin typeface="Arial" pitchFamily="34" charset="0"/>
                <a:ea typeface="Arial" pitchFamily="34" charset="-122"/>
                <a:cs typeface="Arial" pitchFamily="34" charset="-120"/>
              </a:rPr>
              <a:t>O2A</a:t>
            </a:r>
            <a:endParaRPr lang="en-US" sz="2200" dirty="0"/>
          </a:p>
        </p:txBody>
      </p:sp>
      <p:sp>
        <p:nvSpPr>
          <p:cNvPr id="16" name="Text 14"/>
          <p:cNvSpPr txBox="1"/>
          <p:nvPr/>
        </p:nvSpPr>
        <p:spPr>
          <a:xfrm>
            <a:off x="3063240" y="4581144"/>
            <a:ext cx="4572000" cy="640080"/>
          </a:xfrm>
          <a:prstGeom prst="rect">
            <a:avLst/>
          </a:prstGeom>
          <a:noFill/>
          <a:ln/>
        </p:spPr>
        <p:txBody>
          <a:bodyPr wrap="square" lIns="0" tIns="0" rIns="0" bIns="0" rtlCol="0" anchor="ctr"/>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Checks who was authorized to sign, evaluates the evidence, and applies an explicit, versioned policy.</a:t>
            </a:r>
            <a:endParaRPr lang="en-US" sz="1350" dirty="0"/>
          </a:p>
        </p:txBody>
      </p:sp>
      <p:sp>
        <p:nvSpPr>
          <p:cNvPr id="17" name="Text 15"/>
          <p:cNvSpPr txBox="1"/>
          <p:nvPr/>
        </p:nvSpPr>
        <p:spPr>
          <a:xfrm>
            <a:off x="7772400" y="4608576"/>
            <a:ext cx="3429000" cy="566928"/>
          </a:xfrm>
          <a:prstGeom prst="rect">
            <a:avLst/>
          </a:prstGeom>
          <a:noFill/>
          <a:ln/>
        </p:spPr>
        <p:txBody>
          <a:bodyPr wrap="square" lIns="0" tIns="0" rIns="0" bIns="0" rtlCol="0" anchor="ctr"/>
          <a:lstStyle/>
          <a:p>
            <a:pPr algn="r" indent="0" marL="0">
              <a:buNone/>
            </a:pPr>
            <a:r>
              <a:rPr lang="en-US" sz="1000" dirty="0">
                <a:solidFill>
                  <a:srgbClr val="7E85B0"/>
                </a:solidFill>
                <a:latin typeface="Consolas" pitchFamily="34" charset="0"/>
                <a:ea typeface="Consolas" pitchFamily="34" charset="-122"/>
                <a:cs typeface="Consolas" pitchFamily="34" charset="-120"/>
              </a:rPr>
              <a:t>answers: valid, invalid, conflicting,</a:t>
            </a:r>
            <a:endParaRPr lang="en-US" sz="1000" dirty="0"/>
          </a:p>
          <a:p>
            <a:pPr algn="r" indent="0" marL="0">
              <a:buNone/>
            </a:pPr>
            <a:r>
              <a:rPr lang="en-US" sz="1000" dirty="0">
                <a:solidFill>
                  <a:srgbClr val="7E85B0"/>
                </a:solidFill>
                <a:latin typeface="Consolas" pitchFamily="34" charset="0"/>
                <a:ea typeface="Consolas" pitchFamily="34" charset="-122"/>
                <a:cs typeface="Consolas" pitchFamily="34" charset="-120"/>
              </a:rPr>
              <a:t>incomplete — and shows exactly why</a:t>
            </a:r>
            <a:endParaRPr lang="en-US" sz="1000" dirty="0"/>
          </a:p>
        </p:txBody>
      </p:sp>
      <p:sp>
        <p:nvSpPr>
          <p:cNvPr id="18" name="Text 16"/>
          <p:cNvSpPr txBox="1"/>
          <p:nvPr/>
        </p:nvSpPr>
        <p:spPr>
          <a:xfrm>
            <a:off x="777240" y="5532120"/>
            <a:ext cx="10607040" cy="640080"/>
          </a:xfrm>
          <a:prstGeom prst="rect">
            <a:avLst/>
          </a:prstGeom>
          <a:noFill/>
          <a:ln/>
        </p:spPr>
        <p:txBody>
          <a:bodyPr wrap="square" lIns="0" tIns="0" rIns="0" bIns="0" rtlCol="0" anchor="t"/>
          <a:lstStyle/>
          <a:p>
            <a:pPr indent="0" marL="0">
              <a:buNone/>
            </a:pPr>
            <a:r>
              <a:rPr lang="en-US" sz="1600" dirty="0">
                <a:solidFill>
                  <a:srgbClr val="F2B33D"/>
                </a:solidFill>
                <a:latin typeface="Arial" pitchFamily="34" charset="0"/>
                <a:ea typeface="Arial" pitchFamily="34" charset="-122"/>
                <a:cs typeface="Arial" pitchFamily="34" charset="-120"/>
              </a:rPr>
              <a:t>Same evidence. Same result. Anywhere. </a:t>
            </a:r>
            <a:pPr indent="0" marL="0">
              <a:buNone/>
            </a:pPr>
            <a:r>
              <a:rPr lang="en-US" sz="1600" dirty="0">
                <a:solidFill>
                  <a:srgbClr val="B9BEDD"/>
                </a:solidFill>
                <a:latin typeface="Arial" pitchFamily="34" charset="0"/>
                <a:ea typeface="Arial" pitchFamily="34" charset="-122"/>
                <a:cs typeface="Arial" pitchFamily="34" charset="-120"/>
              </a:rPr>
              <a:t>Two wallets that never met reach the same conclusion from the same package, without asking us.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08</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Day one for an artist</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Four things you can do with an identity</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you own.</a:t>
            </a:r>
            <a:endParaRPr lang="en-US" sz="3600" dirty="0"/>
          </a:p>
        </p:txBody>
      </p:sp>
      <p:sp>
        <p:nvSpPr>
          <p:cNvPr id="6" name="Text 4"/>
          <p:cNvSpPr txBox="1"/>
          <p:nvPr/>
        </p:nvSpPr>
        <p:spPr>
          <a:xfrm>
            <a:off x="777240" y="2468880"/>
            <a:ext cx="54864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01</a:t>
            </a:r>
            <a:endParaRPr lang="en-US" sz="1200" dirty="0"/>
          </a:p>
        </p:txBody>
      </p:sp>
      <p:sp>
        <p:nvSpPr>
          <p:cNvPr id="7" name="Text 5"/>
          <p:cNvSpPr txBox="1"/>
          <p:nvPr/>
        </p:nvSpPr>
        <p:spPr>
          <a:xfrm>
            <a:off x="777240" y="2761488"/>
            <a:ext cx="502920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Create it from your own keys</a:t>
            </a:r>
            <a:endParaRPr lang="en-US" sz="1700" dirty="0"/>
          </a:p>
        </p:txBody>
      </p:sp>
      <p:sp>
        <p:nvSpPr>
          <p:cNvPr id="8" name="Text 6"/>
          <p:cNvSpPr txBox="1"/>
          <p:nvPr/>
        </p:nvSpPr>
        <p:spPr>
          <a:xfrm>
            <a:off x="777240" y="3154680"/>
            <a:ext cx="4937760" cy="8686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Derived in your wallet, separate from any bitcoin you spend. No platform approves it; no platform can take it away.</a:t>
            </a:r>
            <a:endParaRPr lang="en-US" sz="1350" dirty="0"/>
          </a:p>
        </p:txBody>
      </p:sp>
      <p:sp>
        <p:nvSpPr>
          <p:cNvPr id="9" name="Text 7"/>
          <p:cNvSpPr txBox="1"/>
          <p:nvPr/>
        </p:nvSpPr>
        <p:spPr>
          <a:xfrm>
            <a:off x="6172200" y="2468880"/>
            <a:ext cx="54864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02</a:t>
            </a:r>
            <a:endParaRPr lang="en-US" sz="1200" dirty="0"/>
          </a:p>
        </p:txBody>
      </p:sp>
      <p:sp>
        <p:nvSpPr>
          <p:cNvPr id="10" name="Text 8"/>
          <p:cNvSpPr txBox="1"/>
          <p:nvPr/>
        </p:nvSpPr>
        <p:spPr>
          <a:xfrm>
            <a:off x="6172200" y="2761488"/>
            <a:ext cx="502920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Sign a show together with the venue</a:t>
            </a:r>
            <a:endParaRPr lang="en-US" sz="1700" dirty="0"/>
          </a:p>
        </p:txBody>
      </p:sp>
      <p:sp>
        <p:nvSpPr>
          <p:cNvPr id="11" name="Text 9"/>
          <p:cNvSpPr txBox="1"/>
          <p:nvPr/>
        </p:nvSpPr>
        <p:spPr>
          <a:xfrm>
            <a:off x="6172200" y="3154680"/>
            <a:ext cx="4937760" cy="8686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You attest the date, the venue attests the booking. Two signatures, one signed record that the promoter, the press and the fans can check.</a:t>
            </a:r>
            <a:endParaRPr lang="en-US" sz="1350" dirty="0"/>
          </a:p>
        </p:txBody>
      </p:sp>
      <p:sp>
        <p:nvSpPr>
          <p:cNvPr id="12" name="Text 10"/>
          <p:cNvSpPr txBox="1"/>
          <p:nvPr/>
        </p:nvSpPr>
        <p:spPr>
          <a:xfrm>
            <a:off x="777240" y="4160520"/>
            <a:ext cx="54864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03</a:t>
            </a:r>
            <a:endParaRPr lang="en-US" sz="1200" dirty="0"/>
          </a:p>
        </p:txBody>
      </p:sp>
      <p:sp>
        <p:nvSpPr>
          <p:cNvPr id="13" name="Text 11"/>
          <p:cNvSpPr txBox="1"/>
          <p:nvPr/>
        </p:nvSpPr>
        <p:spPr>
          <a:xfrm>
            <a:off x="777240" y="4453128"/>
            <a:ext cx="502920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Hand a new venue your proof package</a:t>
            </a:r>
            <a:endParaRPr lang="en-US" sz="1700" dirty="0"/>
          </a:p>
        </p:txBody>
      </p:sp>
      <p:sp>
        <p:nvSpPr>
          <p:cNvPr id="14" name="Text 12"/>
          <p:cNvSpPr txBox="1"/>
          <p:nvPr/>
        </p:nvSpPr>
        <p:spPr>
          <a:xfrm>
            <a:off x="777240" y="4846320"/>
            <a:ext cx="4937760" cy="8686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One file with your history and evidence. The venue's wallet verifies it in seconds and applies its own acceptance rules.</a:t>
            </a:r>
            <a:endParaRPr lang="en-US" sz="1350" dirty="0"/>
          </a:p>
        </p:txBody>
      </p:sp>
      <p:sp>
        <p:nvSpPr>
          <p:cNvPr id="15" name="Text 13"/>
          <p:cNvSpPr txBox="1"/>
          <p:nvPr/>
        </p:nvSpPr>
        <p:spPr>
          <a:xfrm>
            <a:off x="6172200" y="4160520"/>
            <a:ext cx="54864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04</a:t>
            </a:r>
            <a:endParaRPr lang="en-US" sz="1200" dirty="0"/>
          </a:p>
        </p:txBody>
      </p:sp>
      <p:sp>
        <p:nvSpPr>
          <p:cNvPr id="16" name="Text 14"/>
          <p:cNvSpPr txBox="1"/>
          <p:nvPr/>
        </p:nvSpPr>
        <p:spPr>
          <a:xfrm>
            <a:off x="6172200" y="4453128"/>
            <a:ext cx="502920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Approve a use and get paid for it</a:t>
            </a:r>
            <a:endParaRPr lang="en-US" sz="1700" dirty="0"/>
          </a:p>
        </p:txBody>
      </p:sp>
      <p:sp>
        <p:nvSpPr>
          <p:cNvPr id="17" name="Text 15"/>
          <p:cNvSpPr txBox="1"/>
          <p:nvPr/>
        </p:nvSpPr>
        <p:spPr>
          <a:xfrm>
            <a:off x="6172200" y="4846320"/>
            <a:ext cx="4937760" cy="86868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A promotional mention, a catalog link, a tour-date integration: a signed permission carrying a payment in satoshis, at the moment of authorization.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09</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Real rails</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No token. No new chain. Standards</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that already exist.</a:t>
            </a:r>
            <a:endParaRPr lang="en-US" sz="3600" dirty="0"/>
          </a:p>
        </p:txBody>
      </p:sp>
      <p:sp>
        <p:nvSpPr>
          <p:cNvPr id="6" name="Text 4"/>
          <p:cNvSpPr txBox="1"/>
          <p:nvPr/>
        </p:nvSpPr>
        <p:spPr>
          <a:xfrm>
            <a:off x="777240" y="2423160"/>
            <a:ext cx="3291840" cy="320040"/>
          </a:xfrm>
          <a:prstGeom prst="rect">
            <a:avLst/>
          </a:prstGeom>
          <a:noFill/>
          <a:ln/>
        </p:spPr>
        <p:txBody>
          <a:bodyPr wrap="square" lIns="0" tIns="0" rIns="0" bIns="0" rtlCol="0" anchor="ctr"/>
          <a:lstStyle/>
          <a:p>
            <a:pPr indent="0" marL="0">
              <a:buNone/>
            </a:pPr>
            <a:r>
              <a:rPr lang="en-US" sz="1700" b="1" dirty="0">
                <a:solidFill>
                  <a:srgbClr val="F2B33D"/>
                </a:solidFill>
                <a:latin typeface="Arial" pitchFamily="34" charset="0"/>
                <a:ea typeface="Arial" pitchFamily="34" charset="-122"/>
                <a:cs typeface="Arial" pitchFamily="34" charset="-120"/>
              </a:rPr>
              <a:t>Bitcoin</a:t>
            </a:r>
            <a:endParaRPr lang="en-US" sz="1700" dirty="0"/>
          </a:p>
        </p:txBody>
      </p:sp>
      <p:sp>
        <p:nvSpPr>
          <p:cNvPr id="7" name="Text 5"/>
          <p:cNvSpPr txBox="1"/>
          <p:nvPr/>
        </p:nvSpPr>
        <p:spPr>
          <a:xfrm>
            <a:off x="777240" y="2788920"/>
            <a:ext cx="3246120" cy="173736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The most credible public timestamp and settlement layer there is. O2A uses it for ordering and sealing, nothing more. Identity signing keys never spend bitcoin; a dedicated seal key guards the identity's on-chain seal.</a:t>
            </a:r>
            <a:endParaRPr lang="en-US" sz="1350" dirty="0"/>
          </a:p>
        </p:txBody>
      </p:sp>
      <p:sp>
        <p:nvSpPr>
          <p:cNvPr id="8" name="Text 6"/>
          <p:cNvSpPr txBox="1"/>
          <p:nvPr/>
        </p:nvSpPr>
        <p:spPr>
          <a:xfrm>
            <a:off x="4343400" y="2423160"/>
            <a:ext cx="3291840" cy="320040"/>
          </a:xfrm>
          <a:prstGeom prst="rect">
            <a:avLst/>
          </a:prstGeom>
          <a:noFill/>
          <a:ln/>
        </p:spPr>
        <p:txBody>
          <a:bodyPr wrap="square" lIns="0" tIns="0" rIns="0" bIns="0" rtlCol="0" anchor="ctr"/>
          <a:lstStyle/>
          <a:p>
            <a:pPr indent="0" marL="0">
              <a:buNone/>
            </a:pPr>
            <a:r>
              <a:rPr lang="en-US" sz="1700" b="1" dirty="0">
                <a:solidFill>
                  <a:srgbClr val="9A8CFF"/>
                </a:solidFill>
                <a:latin typeface="Arial" pitchFamily="34" charset="0"/>
                <a:ea typeface="Arial" pitchFamily="34" charset="-122"/>
                <a:cs typeface="Arial" pitchFamily="34" charset="-120"/>
              </a:rPr>
              <a:t>RGB</a:t>
            </a:r>
            <a:endParaRPr lang="en-US" sz="1700" dirty="0"/>
          </a:p>
        </p:txBody>
      </p:sp>
      <p:sp>
        <p:nvSpPr>
          <p:cNvPr id="9" name="Text 7"/>
          <p:cNvSpPr txBox="1"/>
          <p:nvPr/>
        </p:nvSpPr>
        <p:spPr>
          <a:xfrm>
            <a:off x="4343400" y="2788920"/>
            <a:ext cx="3246120" cy="173736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Client-side validation on Bitcoin. State stays with its owner, scales off-chain, and is validated by the recipient. Built on RGB's production line (v0.11.1); our genesis format works with any RGB line.</a:t>
            </a:r>
            <a:endParaRPr lang="en-US" sz="1350" dirty="0"/>
          </a:p>
        </p:txBody>
      </p:sp>
      <p:sp>
        <p:nvSpPr>
          <p:cNvPr id="10" name="Text 8"/>
          <p:cNvSpPr txBox="1"/>
          <p:nvPr/>
        </p:nvSpPr>
        <p:spPr>
          <a:xfrm>
            <a:off x="7909560" y="2423160"/>
            <a:ext cx="3291840" cy="320040"/>
          </a:xfrm>
          <a:prstGeom prst="rect">
            <a:avLst/>
          </a:prstGeom>
          <a:noFill/>
          <a:ln/>
        </p:spPr>
        <p:txBody>
          <a:bodyPr wrap="square" lIns="0" tIns="0" rIns="0" bIns="0" rtlCol="0" anchor="ctr"/>
          <a:lstStyle/>
          <a:p>
            <a:pPr indent="0" marL="0">
              <a:buNone/>
            </a:pPr>
            <a:r>
              <a:rPr lang="en-US" sz="1700" b="1" dirty="0">
                <a:solidFill>
                  <a:srgbClr val="3FD3F0"/>
                </a:solidFill>
                <a:latin typeface="Arial" pitchFamily="34" charset="0"/>
                <a:ea typeface="Arial" pitchFamily="34" charset="-122"/>
                <a:cs typeface="Arial" pitchFamily="34" charset="-120"/>
              </a:rPr>
              <a:t>Open standards</a:t>
            </a:r>
            <a:endParaRPr lang="en-US" sz="1700" dirty="0"/>
          </a:p>
        </p:txBody>
      </p:sp>
      <p:sp>
        <p:nvSpPr>
          <p:cNvPr id="11" name="Text 9"/>
          <p:cNvSpPr txBox="1"/>
          <p:nvPr/>
        </p:nvSpPr>
        <p:spPr>
          <a:xfrm>
            <a:off x="7909560" y="2788920"/>
            <a:ext cx="3246120" cy="173736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BIP340 signatures and BIP85 key derivation. Mappings to existing identifiers such as ISNI and DDEX party records. Aligned with W3C Verifiable Credentials 2.0.</a:t>
            </a:r>
            <a:endParaRPr lang="en-US" sz="1350" dirty="0"/>
          </a:p>
        </p:txBody>
      </p:sp>
      <p:sp>
        <p:nvSpPr>
          <p:cNvPr id="12" name="Shape 10"/>
          <p:cNvSpPr/>
          <p:nvPr/>
        </p:nvSpPr>
        <p:spPr>
          <a:xfrm>
            <a:off x="777240" y="4754880"/>
            <a:ext cx="10637215" cy="0"/>
          </a:xfrm>
          <a:prstGeom prst="line">
            <a:avLst/>
          </a:prstGeom>
          <a:noFill/>
          <a:ln w="9525">
            <a:solidFill>
              <a:srgbClr val="32385A"/>
            </a:solidFill>
            <a:prstDash val="solid"/>
          </a:ln>
        </p:spPr>
      </p:sp>
      <p:sp>
        <p:nvSpPr>
          <p:cNvPr id="13" name="Text 11"/>
          <p:cNvSpPr txBox="1"/>
          <p:nvPr/>
        </p:nvSpPr>
        <p:spPr>
          <a:xfrm>
            <a:off x="777240" y="4937760"/>
            <a:ext cx="4937760" cy="82296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Registries and catalogs become rebuildable projections over evidence. Any operator can index it; none of them is the source of truth.</a:t>
            </a:r>
            <a:endParaRPr lang="en-US" sz="1350" dirty="0"/>
          </a:p>
        </p:txBody>
      </p:sp>
      <p:sp>
        <p:nvSpPr>
          <p:cNvPr id="14" name="Text 12"/>
          <p:cNvSpPr txBox="1"/>
          <p:nvPr/>
        </p:nvSpPr>
        <p:spPr>
          <a:xfrm>
            <a:off x="6172200" y="4937760"/>
            <a:ext cx="4937760" cy="822960"/>
          </a:xfrm>
          <a:prstGeom prst="rect">
            <a:avLst/>
          </a:prstGeom>
          <a:noFill/>
          <a:ln/>
        </p:spPr>
        <p:txBody>
          <a:bodyPr wrap="square" lIns="0" tIns="0" rIns="0" bIns="0" rtlCol="0" anchor="t"/>
          <a:lstStyle/>
          <a:p>
            <a:pPr indent="0" marL="0">
              <a:spcAft>
                <a:spcPts val="600"/>
              </a:spcAft>
              <a:buNone/>
            </a:pPr>
            <a:r>
              <a:rPr lang="en-US" sz="1350" dirty="0">
                <a:solidFill>
                  <a:srgbClr val="B9BEDD"/>
                </a:solidFill>
                <a:latin typeface="Arial" pitchFamily="34" charset="0"/>
                <a:ea typeface="Arial" pitchFamily="34" charset="-122"/>
                <a:cs typeface="Arial" pitchFamily="34" charset="-120"/>
              </a:rPr>
              <a:t>Existing platform IDs are linked, not replaced. O2A adds the missing piece: a portable record of who authorized the link.</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10</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Where it fits</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The identity layer of an operating</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system for live events.</a:t>
            </a:r>
            <a:endParaRPr lang="en-US" sz="3600" dirty="0"/>
          </a:p>
        </p:txBody>
      </p:sp>
      <p:sp>
        <p:nvSpPr>
          <p:cNvPr id="6" name="Shape 4"/>
          <p:cNvSpPr/>
          <p:nvPr/>
        </p:nvSpPr>
        <p:spPr>
          <a:xfrm>
            <a:off x="777240" y="2514600"/>
            <a:ext cx="2286000" cy="1691640"/>
          </a:xfrm>
          <a:prstGeom prst="roundRect">
            <a:avLst>
              <a:gd name="adj" fmla="val 4324"/>
            </a:avLst>
          </a:prstGeom>
          <a:solidFill>
            <a:srgbClr val="141A40"/>
          </a:solidFill>
          <a:ln w="9525">
            <a:solidFill>
              <a:srgbClr val="282E53"/>
            </a:solidFill>
            <a:prstDash val="solid"/>
          </a:ln>
        </p:spPr>
      </p:sp>
      <p:sp>
        <p:nvSpPr>
          <p:cNvPr id="7" name="Text 5"/>
          <p:cNvSpPr txBox="1"/>
          <p:nvPr/>
        </p:nvSpPr>
        <p:spPr>
          <a:xfrm>
            <a:off x="978408" y="2697480"/>
            <a:ext cx="1920240" cy="22860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forecast</a:t>
            </a:r>
            <a:endParaRPr lang="en-US" sz="1050" dirty="0"/>
          </a:p>
        </p:txBody>
      </p:sp>
      <p:sp>
        <p:nvSpPr>
          <p:cNvPr id="8" name="Text 6"/>
          <p:cNvSpPr txBox="1"/>
          <p:nvPr/>
        </p:nvSpPr>
        <p:spPr>
          <a:xfrm>
            <a:off x="978408" y="2971800"/>
            <a:ext cx="1920240" cy="365760"/>
          </a:xfrm>
          <a:prstGeom prst="rect">
            <a:avLst/>
          </a:prstGeom>
          <a:noFill/>
          <a:ln/>
        </p:spPr>
        <p:txBody>
          <a:bodyPr wrap="square" lIns="0" tIns="0" rIns="0" bIns="0" rtlCol="0" anchor="ctr"/>
          <a:lstStyle/>
          <a:p>
            <a:pPr indent="0" marL="0">
              <a:buNone/>
            </a:pPr>
            <a:r>
              <a:rPr lang="en-US" sz="2000" b="1" dirty="0">
                <a:solidFill>
                  <a:srgbClr val="EEF0FA"/>
                </a:solidFill>
                <a:latin typeface="Arial" pitchFamily="34" charset="0"/>
                <a:ea typeface="Arial" pitchFamily="34" charset="-122"/>
                <a:cs typeface="Arial" pitchFamily="34" charset="-120"/>
              </a:rPr>
              <a:t>CT-GOT</a:t>
            </a:r>
            <a:endParaRPr lang="en-US" sz="2000" dirty="0"/>
          </a:p>
        </p:txBody>
      </p:sp>
      <p:sp>
        <p:nvSpPr>
          <p:cNvPr id="9" name="Text 7"/>
          <p:cNvSpPr txBox="1"/>
          <p:nvPr/>
        </p:nvSpPr>
        <p:spPr>
          <a:xfrm>
            <a:off x="978408" y="3401568"/>
            <a:ext cx="1920240" cy="73152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AI underwriting of ticket sales for tours and shows</a:t>
            </a:r>
            <a:endParaRPr lang="en-US" sz="1200" dirty="0"/>
          </a:p>
        </p:txBody>
      </p:sp>
      <p:sp>
        <p:nvSpPr>
          <p:cNvPr id="10" name="Text 8"/>
          <p:cNvSpPr txBox="1"/>
          <p:nvPr/>
        </p:nvSpPr>
        <p:spPr>
          <a:xfrm>
            <a:off x="3136392" y="3154680"/>
            <a:ext cx="274320" cy="365760"/>
          </a:xfrm>
          <a:prstGeom prst="rect">
            <a:avLst/>
          </a:prstGeom>
          <a:noFill/>
          <a:ln/>
        </p:spPr>
        <p:txBody>
          <a:bodyPr wrap="square" lIns="0" tIns="0" rIns="0" bIns="0" rtlCol="0" anchor="ctr"/>
          <a:lstStyle/>
          <a:p>
            <a:pPr algn="ctr" indent="0" marL="0">
              <a:buNone/>
            </a:pPr>
            <a:r>
              <a:rPr lang="en-US" sz="1800" dirty="0">
                <a:solidFill>
                  <a:srgbClr val="7E85B0"/>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3474720" y="2514600"/>
            <a:ext cx="2286000" cy="1691640"/>
          </a:xfrm>
          <a:prstGeom prst="roundRect">
            <a:avLst>
              <a:gd name="adj" fmla="val 4324"/>
            </a:avLst>
          </a:prstGeom>
          <a:solidFill>
            <a:srgbClr val="1B1B3A"/>
          </a:solidFill>
          <a:ln w="19050">
            <a:solidFill>
              <a:srgbClr val="F2B33D"/>
            </a:solidFill>
            <a:prstDash val="solid"/>
          </a:ln>
        </p:spPr>
      </p:sp>
      <p:sp>
        <p:nvSpPr>
          <p:cNvPr id="12" name="Text 10"/>
          <p:cNvSpPr txBox="1"/>
          <p:nvPr/>
        </p:nvSpPr>
        <p:spPr>
          <a:xfrm>
            <a:off x="3675888" y="2697480"/>
            <a:ext cx="1920240" cy="22860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identify</a:t>
            </a:r>
            <a:endParaRPr lang="en-US" sz="1050" dirty="0"/>
          </a:p>
        </p:txBody>
      </p:sp>
      <p:sp>
        <p:nvSpPr>
          <p:cNvPr id="13" name="Text 11"/>
          <p:cNvSpPr txBox="1"/>
          <p:nvPr/>
        </p:nvSpPr>
        <p:spPr>
          <a:xfrm>
            <a:off x="3675888" y="2971800"/>
            <a:ext cx="1920240" cy="365760"/>
          </a:xfrm>
          <a:prstGeom prst="rect">
            <a:avLst/>
          </a:prstGeom>
          <a:noFill/>
          <a:ln/>
        </p:spPr>
        <p:txBody>
          <a:bodyPr wrap="square" lIns="0" tIns="0" rIns="0" bIns="0" rtlCol="0" anchor="ctr"/>
          <a:lstStyle/>
          <a:p>
            <a:pPr indent="0" marL="0">
              <a:buNone/>
            </a:pPr>
            <a:r>
              <a:rPr lang="en-US" sz="2000" b="1" dirty="0">
                <a:solidFill>
                  <a:srgbClr val="EEF0FA"/>
                </a:solidFill>
                <a:latin typeface="Arial" pitchFamily="34" charset="0"/>
                <a:ea typeface="Arial" pitchFamily="34" charset="-122"/>
                <a:cs typeface="Arial" pitchFamily="34" charset="-120"/>
              </a:rPr>
              <a:t>O2A</a:t>
            </a:r>
            <a:endParaRPr lang="en-US" sz="2000" dirty="0"/>
          </a:p>
        </p:txBody>
      </p:sp>
      <p:sp>
        <p:nvSpPr>
          <p:cNvPr id="14" name="Text 12"/>
          <p:cNvSpPr txBox="1"/>
          <p:nvPr/>
        </p:nvSpPr>
        <p:spPr>
          <a:xfrm>
            <a:off x="3675888" y="3401568"/>
            <a:ext cx="1920240" cy="73152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Who the participants are, who may act for them, and what they signed</a:t>
            </a:r>
            <a:endParaRPr lang="en-US" sz="1200" dirty="0"/>
          </a:p>
        </p:txBody>
      </p:sp>
      <p:sp>
        <p:nvSpPr>
          <p:cNvPr id="15" name="Text 13"/>
          <p:cNvSpPr txBox="1"/>
          <p:nvPr/>
        </p:nvSpPr>
        <p:spPr>
          <a:xfrm>
            <a:off x="5833872" y="3154680"/>
            <a:ext cx="274320" cy="365760"/>
          </a:xfrm>
          <a:prstGeom prst="rect">
            <a:avLst/>
          </a:prstGeom>
          <a:noFill/>
          <a:ln/>
        </p:spPr>
        <p:txBody>
          <a:bodyPr wrap="square" lIns="0" tIns="0" rIns="0" bIns="0" rtlCol="0" anchor="ctr"/>
          <a:lstStyle/>
          <a:p>
            <a:pPr algn="ctr" indent="0" marL="0">
              <a:buNone/>
            </a:pPr>
            <a:r>
              <a:rPr lang="en-US" sz="1800" dirty="0">
                <a:solidFill>
                  <a:srgbClr val="7E85B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172200" y="2514600"/>
            <a:ext cx="2286000" cy="1691640"/>
          </a:xfrm>
          <a:prstGeom prst="roundRect">
            <a:avLst>
              <a:gd name="adj" fmla="val 4324"/>
            </a:avLst>
          </a:prstGeom>
          <a:solidFill>
            <a:srgbClr val="141A40"/>
          </a:solidFill>
          <a:ln w="9525">
            <a:solidFill>
              <a:srgbClr val="282E53"/>
            </a:solidFill>
            <a:prstDash val="solid"/>
          </a:ln>
        </p:spPr>
      </p:sp>
      <p:sp>
        <p:nvSpPr>
          <p:cNvPr id="17" name="Text 15"/>
          <p:cNvSpPr txBox="1"/>
          <p:nvPr/>
        </p:nvSpPr>
        <p:spPr>
          <a:xfrm>
            <a:off x="6373368" y="2697480"/>
            <a:ext cx="1920240" cy="22860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access</a:t>
            </a:r>
            <a:endParaRPr lang="en-US" sz="1050" dirty="0"/>
          </a:p>
        </p:txBody>
      </p:sp>
      <p:sp>
        <p:nvSpPr>
          <p:cNvPr id="18" name="Text 16"/>
          <p:cNvSpPr txBox="1"/>
          <p:nvPr/>
        </p:nvSpPr>
        <p:spPr>
          <a:xfrm>
            <a:off x="6373368" y="2971800"/>
            <a:ext cx="1920240" cy="365760"/>
          </a:xfrm>
          <a:prstGeom prst="rect">
            <a:avLst/>
          </a:prstGeom>
          <a:noFill/>
          <a:ln/>
        </p:spPr>
        <p:txBody>
          <a:bodyPr wrap="square" lIns="0" tIns="0" rIns="0" bIns="0" rtlCol="0" anchor="ctr"/>
          <a:lstStyle/>
          <a:p>
            <a:pPr indent="0" marL="0">
              <a:buNone/>
            </a:pPr>
            <a:r>
              <a:rPr lang="en-US" sz="2000" b="1" dirty="0">
                <a:solidFill>
                  <a:srgbClr val="EEF0FA"/>
                </a:solidFill>
                <a:latin typeface="Arial" pitchFamily="34" charset="0"/>
                <a:ea typeface="Arial" pitchFamily="34" charset="-122"/>
                <a:cs typeface="Arial" pitchFamily="34" charset="-120"/>
              </a:rPr>
              <a:t>GatePass</a:t>
            </a:r>
            <a:endParaRPr lang="en-US" sz="2000" dirty="0"/>
          </a:p>
        </p:txBody>
      </p:sp>
      <p:sp>
        <p:nvSpPr>
          <p:cNvPr id="19" name="Text 17"/>
          <p:cNvSpPr txBox="1"/>
          <p:nvPr/>
        </p:nvSpPr>
        <p:spPr>
          <a:xfrm>
            <a:off x="6373368" y="3401568"/>
            <a:ext cx="1920240" cy="73152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Tickets and access bound to verified identities</a:t>
            </a:r>
            <a:endParaRPr lang="en-US" sz="1200" dirty="0"/>
          </a:p>
        </p:txBody>
      </p:sp>
      <p:sp>
        <p:nvSpPr>
          <p:cNvPr id="20" name="Text 18"/>
          <p:cNvSpPr txBox="1"/>
          <p:nvPr/>
        </p:nvSpPr>
        <p:spPr>
          <a:xfrm>
            <a:off x="8531352" y="3154680"/>
            <a:ext cx="274320" cy="365760"/>
          </a:xfrm>
          <a:prstGeom prst="rect">
            <a:avLst/>
          </a:prstGeom>
          <a:noFill/>
          <a:ln/>
        </p:spPr>
        <p:txBody>
          <a:bodyPr wrap="square" lIns="0" tIns="0" rIns="0" bIns="0" rtlCol="0" anchor="ctr"/>
          <a:lstStyle/>
          <a:p>
            <a:pPr algn="ctr" indent="0" marL="0">
              <a:buNone/>
            </a:pPr>
            <a:r>
              <a:rPr lang="en-US" sz="1800" dirty="0">
                <a:solidFill>
                  <a:srgbClr val="7E85B0"/>
                </a:solidFill>
                <a:latin typeface="Arial" pitchFamily="34" charset="0"/>
                <a:ea typeface="Arial" pitchFamily="34" charset="-122"/>
                <a:cs typeface="Arial" pitchFamily="34" charset="-120"/>
              </a:rPr>
              <a:t>→</a:t>
            </a:r>
            <a:endParaRPr lang="en-US" sz="1800" dirty="0"/>
          </a:p>
        </p:txBody>
      </p:sp>
      <p:sp>
        <p:nvSpPr>
          <p:cNvPr id="21" name="Shape 19"/>
          <p:cNvSpPr/>
          <p:nvPr/>
        </p:nvSpPr>
        <p:spPr>
          <a:xfrm>
            <a:off x="8869680" y="2514600"/>
            <a:ext cx="2286000" cy="1691640"/>
          </a:xfrm>
          <a:prstGeom prst="roundRect">
            <a:avLst>
              <a:gd name="adj" fmla="val 4324"/>
            </a:avLst>
          </a:prstGeom>
          <a:solidFill>
            <a:srgbClr val="141A40"/>
          </a:solidFill>
          <a:ln w="9525">
            <a:solidFill>
              <a:srgbClr val="282E53"/>
            </a:solidFill>
            <a:prstDash val="solid"/>
          </a:ln>
        </p:spPr>
      </p:sp>
      <p:sp>
        <p:nvSpPr>
          <p:cNvPr id="22" name="Text 20"/>
          <p:cNvSpPr txBox="1"/>
          <p:nvPr/>
        </p:nvSpPr>
        <p:spPr>
          <a:xfrm>
            <a:off x="9070848" y="2697480"/>
            <a:ext cx="1920240" cy="22860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settle</a:t>
            </a:r>
            <a:endParaRPr lang="en-US" sz="1050" dirty="0"/>
          </a:p>
        </p:txBody>
      </p:sp>
      <p:sp>
        <p:nvSpPr>
          <p:cNvPr id="23" name="Text 21"/>
          <p:cNvSpPr txBox="1"/>
          <p:nvPr/>
        </p:nvSpPr>
        <p:spPr>
          <a:xfrm>
            <a:off x="9070848" y="2971800"/>
            <a:ext cx="1920240" cy="365760"/>
          </a:xfrm>
          <a:prstGeom prst="rect">
            <a:avLst/>
          </a:prstGeom>
          <a:noFill/>
          <a:ln/>
        </p:spPr>
        <p:txBody>
          <a:bodyPr wrap="square" lIns="0" tIns="0" rIns="0" bIns="0" rtlCol="0" anchor="ctr"/>
          <a:lstStyle/>
          <a:p>
            <a:pPr indent="0" marL="0">
              <a:buNone/>
            </a:pPr>
            <a:r>
              <a:rPr lang="en-US" sz="2000" b="1" dirty="0">
                <a:solidFill>
                  <a:srgbClr val="EEF0FA"/>
                </a:solidFill>
                <a:latin typeface="Arial" pitchFamily="34" charset="0"/>
                <a:ea typeface="Arial" pitchFamily="34" charset="-122"/>
                <a:cs typeface="Arial" pitchFamily="34" charset="-120"/>
              </a:rPr>
              <a:t>SplitNight</a:t>
            </a:r>
            <a:endParaRPr lang="en-US" sz="2000" dirty="0"/>
          </a:p>
        </p:txBody>
      </p:sp>
      <p:sp>
        <p:nvSpPr>
          <p:cNvPr id="24" name="Text 22"/>
          <p:cNvSpPr txBox="1"/>
          <p:nvPr/>
        </p:nvSpPr>
        <p:spPr>
          <a:xfrm>
            <a:off x="9070848" y="3401568"/>
            <a:ext cx="1920240" cy="731520"/>
          </a:xfrm>
          <a:prstGeom prst="rect">
            <a:avLst/>
          </a:prstGeom>
          <a:noFill/>
          <a:ln/>
        </p:spPr>
        <p:txBody>
          <a:bodyPr wrap="square" lIns="0" tIns="0" rIns="0" bIns="0" rtlCol="0" anchor="t"/>
          <a:lstStyle/>
          <a:p>
            <a:pPr indent="0" marL="0">
              <a:spcAft>
                <a:spcPts val="600"/>
              </a:spcAft>
              <a:buNone/>
            </a:pPr>
            <a:r>
              <a:rPr lang="en-US" sz="1200" dirty="0">
                <a:solidFill>
                  <a:srgbClr val="B9BEDD"/>
                </a:solidFill>
                <a:latin typeface="Arial" pitchFamily="34" charset="0"/>
                <a:ea typeface="Arial" pitchFamily="34" charset="-122"/>
                <a:cs typeface="Arial" pitchFamily="34" charset="-120"/>
              </a:rPr>
              <a:t>Programmable revenue split on RGB, from door to payout</a:t>
            </a:r>
            <a:endParaRPr lang="en-US" sz="1200" dirty="0"/>
          </a:p>
        </p:txBody>
      </p:sp>
      <p:sp>
        <p:nvSpPr>
          <p:cNvPr id="25" name="Text 23"/>
          <p:cNvSpPr txBox="1"/>
          <p:nvPr/>
        </p:nvSpPr>
        <p:spPr>
          <a:xfrm>
            <a:off x="777240" y="4663440"/>
            <a:ext cx="10058400" cy="914400"/>
          </a:xfrm>
          <a:prstGeom prst="rect">
            <a:avLst/>
          </a:prstGeom>
          <a:noFill/>
          <a:ln/>
        </p:spPr>
        <p:txBody>
          <a:bodyPr wrap="square" lIns="0" tIns="0" rIns="0" bIns="0" rtlCol="0" anchor="t"/>
          <a:lstStyle/>
          <a:p>
            <a:pPr indent="0" marL="0">
              <a:spcAft>
                <a:spcPts val="600"/>
              </a:spcAft>
              <a:buNone/>
            </a:pPr>
            <a:r>
              <a:rPr lang="en-US" sz="1700" dirty="0">
                <a:solidFill>
                  <a:srgbClr val="B9BEDD"/>
                </a:solidFill>
                <a:latin typeface="Arial" pitchFamily="34" charset="0"/>
                <a:ea typeface="Arial" pitchFamily="34" charset="-122"/>
                <a:cs typeface="Arial" pitchFamily="34" charset="-120"/>
              </a:rPr>
              <a:t>Cortex finances live events from artist offer to post-event settlement. Every step needs to know who it is dealing with. O2A is that answer, and it is open for anyone else to build 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11</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Where we are today</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Rehearsed on Bitcoin signet. Verified by</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independent code.</a:t>
            </a:r>
            <a:endParaRPr lang="en-US" sz="3600" dirty="0"/>
          </a:p>
        </p:txBody>
      </p:sp>
      <p:sp>
        <p:nvSpPr>
          <p:cNvPr id="6" name="Text 4"/>
          <p:cNvSpPr txBox="1"/>
          <p:nvPr/>
        </p:nvSpPr>
        <p:spPr>
          <a:xfrm>
            <a:off x="777240" y="2423160"/>
            <a:ext cx="1828800" cy="594360"/>
          </a:xfrm>
          <a:prstGeom prst="rect">
            <a:avLst/>
          </a:prstGeom>
          <a:noFill/>
          <a:ln/>
        </p:spPr>
        <p:txBody>
          <a:bodyPr wrap="square" lIns="0" tIns="0" rIns="0" bIns="0" rtlCol="0" anchor="ctr"/>
          <a:lstStyle/>
          <a:p>
            <a:pPr indent="0" marL="0">
              <a:buNone/>
            </a:pPr>
            <a:r>
              <a:rPr lang="en-US" sz="3800" b="1" dirty="0">
                <a:solidFill>
                  <a:srgbClr val="F2B33D"/>
                </a:solidFill>
                <a:latin typeface="Arial" pitchFamily="34" charset="0"/>
                <a:ea typeface="Arial" pitchFamily="34" charset="-122"/>
                <a:cs typeface="Arial" pitchFamily="34" charset="-120"/>
              </a:rPr>
              <a:t>4</a:t>
            </a:r>
            <a:endParaRPr lang="en-US" sz="3800" dirty="0"/>
          </a:p>
        </p:txBody>
      </p:sp>
      <p:sp>
        <p:nvSpPr>
          <p:cNvPr id="7" name="Text 5"/>
          <p:cNvSpPr txBox="1"/>
          <p:nvPr/>
        </p:nvSpPr>
        <p:spPr>
          <a:xfrm>
            <a:off x="777240" y="3081528"/>
            <a:ext cx="3200400"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architecture decisions accepted this month: genesis-bound IDs, a frozen genesis format, the RGB production line, mainnet as configuration</a:t>
            </a:r>
            <a:endParaRPr lang="en-US" sz="1250" dirty="0"/>
          </a:p>
        </p:txBody>
      </p:sp>
      <p:sp>
        <p:nvSpPr>
          <p:cNvPr id="8" name="Text 6"/>
          <p:cNvSpPr txBox="1"/>
          <p:nvPr/>
        </p:nvSpPr>
        <p:spPr>
          <a:xfrm>
            <a:off x="4343400" y="2423160"/>
            <a:ext cx="1828800" cy="594360"/>
          </a:xfrm>
          <a:prstGeom prst="rect">
            <a:avLst/>
          </a:prstGeom>
          <a:noFill/>
          <a:ln/>
        </p:spPr>
        <p:txBody>
          <a:bodyPr wrap="square" lIns="0" tIns="0" rIns="0" bIns="0" rtlCol="0" anchor="ctr"/>
          <a:lstStyle/>
          <a:p>
            <a:pPr indent="0" marL="0">
              <a:buNone/>
            </a:pPr>
            <a:r>
              <a:rPr lang="en-US" sz="3800" b="1" dirty="0">
                <a:solidFill>
                  <a:srgbClr val="9A8CFF"/>
                </a:solidFill>
                <a:latin typeface="Arial" pitchFamily="34" charset="0"/>
                <a:ea typeface="Arial" pitchFamily="34" charset="-122"/>
                <a:cs typeface="Arial" pitchFamily="34" charset="-120"/>
              </a:rPr>
              <a:t>3</a:t>
            </a:r>
            <a:endParaRPr lang="en-US" sz="3800" dirty="0"/>
          </a:p>
        </p:txBody>
      </p:sp>
      <p:sp>
        <p:nvSpPr>
          <p:cNvPr id="9" name="Text 7"/>
          <p:cNvSpPr txBox="1"/>
          <p:nvPr/>
        </p:nvSpPr>
        <p:spPr>
          <a:xfrm>
            <a:off x="4343400" y="3081528"/>
            <a:ext cx="3200400"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full dress rehearsals of the live identity ceremony on Bitcoin signet, the last one on RGB v0.11.1</a:t>
            </a:r>
            <a:endParaRPr lang="en-US" sz="1250" dirty="0"/>
          </a:p>
        </p:txBody>
      </p:sp>
      <p:sp>
        <p:nvSpPr>
          <p:cNvPr id="10" name="Text 8"/>
          <p:cNvSpPr txBox="1"/>
          <p:nvPr/>
        </p:nvSpPr>
        <p:spPr>
          <a:xfrm>
            <a:off x="7909560" y="2423160"/>
            <a:ext cx="1828800" cy="594360"/>
          </a:xfrm>
          <a:prstGeom prst="rect">
            <a:avLst/>
          </a:prstGeom>
          <a:noFill/>
          <a:ln/>
        </p:spPr>
        <p:txBody>
          <a:bodyPr wrap="square" lIns="0" tIns="0" rIns="0" bIns="0" rtlCol="0" anchor="ctr"/>
          <a:lstStyle/>
          <a:p>
            <a:pPr indent="0" marL="0">
              <a:buNone/>
            </a:pPr>
            <a:r>
              <a:rPr lang="en-US" sz="3800" b="1" dirty="0">
                <a:solidFill>
                  <a:srgbClr val="3FD3F0"/>
                </a:solidFill>
                <a:latin typeface="Arial" pitchFamily="34" charset="0"/>
                <a:ea typeface="Arial" pitchFamily="34" charset="-122"/>
                <a:cs typeface="Arial" pitchFamily="34" charset="-120"/>
              </a:rPr>
              <a:t>63</a:t>
            </a:r>
            <a:endParaRPr lang="en-US" sz="3800" dirty="0"/>
          </a:p>
        </p:txBody>
      </p:sp>
      <p:sp>
        <p:nvSpPr>
          <p:cNvPr id="11" name="Text 9"/>
          <p:cNvSpPr txBox="1"/>
          <p:nvPr/>
        </p:nvSpPr>
        <p:spPr>
          <a:xfrm>
            <a:off x="7909560" y="3081528"/>
            <a:ext cx="3200400"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frozen genesis outputs, rechecked on every change so the first identities stay valid forever</a:t>
            </a:r>
            <a:endParaRPr lang="en-US" sz="1250" dirty="0"/>
          </a:p>
        </p:txBody>
      </p:sp>
      <p:sp>
        <p:nvSpPr>
          <p:cNvPr id="12" name="Text 10"/>
          <p:cNvSpPr txBox="1"/>
          <p:nvPr/>
        </p:nvSpPr>
        <p:spPr>
          <a:xfrm>
            <a:off x="777240" y="4023360"/>
            <a:ext cx="1828800" cy="594360"/>
          </a:xfrm>
          <a:prstGeom prst="rect">
            <a:avLst/>
          </a:prstGeom>
          <a:noFill/>
          <a:ln/>
        </p:spPr>
        <p:txBody>
          <a:bodyPr wrap="square" lIns="0" tIns="0" rIns="0" bIns="0" rtlCol="0" anchor="ctr"/>
          <a:lstStyle/>
          <a:p>
            <a:pPr indent="0" marL="0">
              <a:buNone/>
            </a:pPr>
            <a:r>
              <a:rPr lang="en-US" sz="3800" b="1" dirty="0">
                <a:solidFill>
                  <a:srgbClr val="F2B33D"/>
                </a:solidFill>
                <a:latin typeface="Arial" pitchFamily="34" charset="0"/>
                <a:ea typeface="Arial" pitchFamily="34" charset="-122"/>
                <a:cs typeface="Arial" pitchFamily="34" charset="-120"/>
              </a:rPr>
              <a:t>27</a:t>
            </a:r>
            <a:endParaRPr lang="en-US" sz="3800" dirty="0"/>
          </a:p>
        </p:txBody>
      </p:sp>
      <p:sp>
        <p:nvSpPr>
          <p:cNvPr id="13" name="Text 11"/>
          <p:cNvSpPr txBox="1"/>
          <p:nvPr/>
        </p:nvSpPr>
        <p:spPr>
          <a:xfrm>
            <a:off x="777240" y="4681728"/>
            <a:ext cx="3200400"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regression checks, including the attacks we found and closed ourselves</a:t>
            </a:r>
            <a:endParaRPr lang="en-US" sz="1250" dirty="0"/>
          </a:p>
        </p:txBody>
      </p:sp>
      <p:sp>
        <p:nvSpPr>
          <p:cNvPr id="14" name="Text 12"/>
          <p:cNvSpPr txBox="1"/>
          <p:nvPr/>
        </p:nvSpPr>
        <p:spPr>
          <a:xfrm>
            <a:off x="4343400" y="4023360"/>
            <a:ext cx="1828800" cy="594360"/>
          </a:xfrm>
          <a:prstGeom prst="rect">
            <a:avLst/>
          </a:prstGeom>
          <a:noFill/>
          <a:ln/>
        </p:spPr>
        <p:txBody>
          <a:bodyPr wrap="square" lIns="0" tIns="0" rIns="0" bIns="0" rtlCol="0" anchor="ctr"/>
          <a:lstStyle/>
          <a:p>
            <a:pPr indent="0" marL="0">
              <a:buNone/>
            </a:pPr>
            <a:r>
              <a:rPr lang="en-US" sz="3800" b="1" dirty="0">
                <a:solidFill>
                  <a:srgbClr val="9A8CFF"/>
                </a:solidFill>
                <a:latin typeface="Arial" pitchFamily="34" charset="0"/>
                <a:ea typeface="Arial" pitchFamily="34" charset="-122"/>
                <a:cs typeface="Arial" pitchFamily="34" charset="-120"/>
              </a:rPr>
              <a:t>2</a:t>
            </a:r>
            <a:endParaRPr lang="en-US" sz="3800" dirty="0"/>
          </a:p>
        </p:txBody>
      </p:sp>
      <p:sp>
        <p:nvSpPr>
          <p:cNvPr id="15" name="Text 13"/>
          <p:cNvSpPr txBox="1"/>
          <p:nvPr/>
        </p:nvSpPr>
        <p:spPr>
          <a:xfrm>
            <a:off x="4343400" y="4681728"/>
            <a:ext cx="3200400"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independent validators agreeing byte for byte on every identity history</a:t>
            </a:r>
            <a:endParaRPr lang="en-US" sz="1250" dirty="0"/>
          </a:p>
        </p:txBody>
      </p:sp>
      <p:sp>
        <p:nvSpPr>
          <p:cNvPr id="16" name="Text 14"/>
          <p:cNvSpPr txBox="1"/>
          <p:nvPr/>
        </p:nvSpPr>
        <p:spPr>
          <a:xfrm>
            <a:off x="7909560" y="4023360"/>
            <a:ext cx="1828800" cy="594360"/>
          </a:xfrm>
          <a:prstGeom prst="rect">
            <a:avLst/>
          </a:prstGeom>
          <a:noFill/>
          <a:ln/>
        </p:spPr>
        <p:txBody>
          <a:bodyPr wrap="square" lIns="0" tIns="0" rIns="0" bIns="0" rtlCol="0" anchor="ctr"/>
          <a:lstStyle/>
          <a:p>
            <a:pPr indent="0" marL="0">
              <a:buNone/>
            </a:pPr>
            <a:r>
              <a:rPr lang="en-US" sz="3800" b="1" dirty="0">
                <a:solidFill>
                  <a:srgbClr val="3FD3F0"/>
                </a:solidFill>
                <a:latin typeface="Arial" pitchFamily="34" charset="0"/>
                <a:ea typeface="Arial" pitchFamily="34" charset="-122"/>
                <a:cs typeface="Arial" pitchFamily="34" charset="-120"/>
              </a:rPr>
              <a:t>3</a:t>
            </a:r>
            <a:endParaRPr lang="en-US" sz="3800" dirty="0"/>
          </a:p>
        </p:txBody>
      </p:sp>
      <p:sp>
        <p:nvSpPr>
          <p:cNvPr id="17" name="Text 15"/>
          <p:cNvSpPr txBox="1"/>
          <p:nvPr/>
        </p:nvSpPr>
        <p:spPr>
          <a:xfrm>
            <a:off x="7909560" y="4681728"/>
            <a:ext cx="3200400"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independent implementations of the key-derivation profile, all producing identical keys</a:t>
            </a:r>
            <a:endParaRPr lang="en-US" sz="1250" dirty="0"/>
          </a:p>
        </p:txBody>
      </p:sp>
      <p:sp>
        <p:nvSpPr>
          <p:cNvPr id="18" name="Text 16"/>
          <p:cNvSpPr txBox="1"/>
          <p:nvPr/>
        </p:nvSpPr>
        <p:spPr>
          <a:xfrm>
            <a:off x="777240" y="5806440"/>
            <a:ext cx="10515600" cy="27432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Everything above is reproducible from two public repositories with content-addressed evidence bundles.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12</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Now</a:t>
            </a:r>
            <a:endParaRPr lang="en-US" sz="1200" dirty="0"/>
          </a:p>
        </p:txBody>
      </p:sp>
      <p:sp>
        <p:nvSpPr>
          <p:cNvPr id="5" name="Text 3"/>
          <p:cNvSpPr txBox="1"/>
          <p:nvPr/>
        </p:nvSpPr>
        <p:spPr>
          <a:xfrm>
            <a:off x="777240" y="960120"/>
            <a:ext cx="7315200" cy="1188720"/>
          </a:xfrm>
          <a:prstGeom prst="rect">
            <a:avLst/>
          </a:prstGeom>
          <a:noFill/>
          <a:ln/>
        </p:spPr>
        <p:txBody>
          <a:bodyPr wrap="square" lIns="0" tIns="0" rIns="0" bIns="0" rtlCol="0" anchor="ctr"/>
          <a:lstStyle/>
          <a:p>
            <a:pPr indent="0" marL="0">
              <a:buNone/>
            </a:pPr>
            <a:r>
              <a:rPr lang="en-US" sz="7200" b="1" dirty="0">
                <a:solidFill>
                  <a:srgbClr val="F2B33D"/>
                </a:solidFill>
                <a:latin typeface="Arial" pitchFamily="34" charset="0"/>
                <a:ea typeface="Arial" pitchFamily="34" charset="-122"/>
                <a:cs typeface="Arial" pitchFamily="34" charset="-120"/>
              </a:rPr>
              <a:t>Block 0.</a:t>
            </a:r>
            <a:endParaRPr lang="en-US" sz="7200" dirty="0"/>
          </a:p>
        </p:txBody>
      </p:sp>
      <p:sp>
        <p:nvSpPr>
          <p:cNvPr id="6" name="Text 4"/>
          <p:cNvSpPr txBox="1"/>
          <p:nvPr/>
        </p:nvSpPr>
        <p:spPr>
          <a:xfrm>
            <a:off x="777240" y="2240280"/>
            <a:ext cx="8229600" cy="548640"/>
          </a:xfrm>
          <a:prstGeom prst="rect">
            <a:avLst/>
          </a:prstGeom>
          <a:noFill/>
          <a:ln/>
        </p:spPr>
        <p:txBody>
          <a:bodyPr wrap="square" lIns="0" tIns="0" rIns="0" bIns="0" rtlCol="0" anchor="t"/>
          <a:lstStyle/>
          <a:p>
            <a:pPr indent="0" marL="0">
              <a:spcAft>
                <a:spcPts val="600"/>
              </a:spcAft>
              <a:buNone/>
            </a:pPr>
            <a:r>
              <a:rPr lang="en-US" sz="2200" dirty="0">
                <a:solidFill>
                  <a:srgbClr val="EEF0FA"/>
                </a:solidFill>
                <a:latin typeface="Arial" pitchFamily="34" charset="0"/>
                <a:ea typeface="Arial" pitchFamily="34" charset="-122"/>
                <a:cs typeface="Arial" pitchFamily="34" charset="-120"/>
              </a:rPr>
              <a:t>The first O2A identity, minted live on Bitcoin mainnet. Right here.</a:t>
            </a:r>
            <a:endParaRPr lang="en-US" sz="2200" dirty="0"/>
          </a:p>
        </p:txBody>
      </p:sp>
      <p:sp>
        <p:nvSpPr>
          <p:cNvPr id="7" name="Shape 5"/>
          <p:cNvSpPr/>
          <p:nvPr/>
        </p:nvSpPr>
        <p:spPr>
          <a:xfrm>
            <a:off x="777240" y="3246120"/>
            <a:ext cx="2423160" cy="1783080"/>
          </a:xfrm>
          <a:prstGeom prst="roundRect">
            <a:avLst>
              <a:gd name="adj" fmla="val 4103"/>
            </a:avLst>
          </a:prstGeom>
          <a:solidFill>
            <a:srgbClr val="141A40"/>
          </a:solidFill>
          <a:ln w="9525">
            <a:solidFill>
              <a:srgbClr val="282E53"/>
            </a:solidFill>
            <a:prstDash val="solid"/>
          </a:ln>
        </p:spPr>
      </p:sp>
      <p:sp>
        <p:nvSpPr>
          <p:cNvPr id="8" name="Text 6"/>
          <p:cNvSpPr txBox="1"/>
          <p:nvPr/>
        </p:nvSpPr>
        <p:spPr>
          <a:xfrm>
            <a:off x="978408" y="3401568"/>
            <a:ext cx="914400" cy="228600"/>
          </a:xfrm>
          <a:prstGeom prst="rect">
            <a:avLst/>
          </a:prstGeom>
          <a:noFill/>
          <a:ln/>
        </p:spPr>
        <p:txBody>
          <a:bodyPr wrap="square" lIns="0" tIns="0" rIns="0" bIns="0" rtlCol="0" anchor="t"/>
          <a:lstStyle/>
          <a:p>
            <a:pPr indent="0" marL="0">
              <a:buNone/>
            </a:pPr>
            <a:r>
              <a:rPr lang="en-US" sz="1100" dirty="0">
                <a:solidFill>
                  <a:srgbClr val="F2B33D"/>
                </a:solidFill>
                <a:latin typeface="Consolas" pitchFamily="34" charset="0"/>
                <a:ea typeface="Consolas" pitchFamily="34" charset="-122"/>
                <a:cs typeface="Consolas" pitchFamily="34" charset="-120"/>
              </a:rPr>
              <a:t>01</a:t>
            </a:r>
            <a:endParaRPr lang="en-US" sz="1100" dirty="0"/>
          </a:p>
        </p:txBody>
      </p:sp>
      <p:sp>
        <p:nvSpPr>
          <p:cNvPr id="9" name="Text 7"/>
          <p:cNvSpPr txBox="1"/>
          <p:nvPr/>
        </p:nvSpPr>
        <p:spPr>
          <a:xfrm>
            <a:off x="978408" y="3657600"/>
            <a:ext cx="2057400" cy="365760"/>
          </a:xfrm>
          <a:prstGeom prst="rect">
            <a:avLst/>
          </a:prstGeom>
          <a:noFill/>
          <a:ln/>
        </p:spPr>
        <p:txBody>
          <a:bodyPr wrap="square" lIns="0" tIns="0" rIns="0" bIns="0" rtlCol="0" anchor="ctr"/>
          <a:lstStyle/>
          <a:p>
            <a:pPr indent="0" marL="0">
              <a:buNone/>
            </a:pPr>
            <a:r>
              <a:rPr lang="en-US" sz="1800" b="1" dirty="0">
                <a:solidFill>
                  <a:srgbClr val="EEF0FA"/>
                </a:solidFill>
                <a:latin typeface="Arial" pitchFamily="34" charset="0"/>
                <a:ea typeface="Arial" pitchFamily="34" charset="-122"/>
                <a:cs typeface="Arial" pitchFamily="34" charset="-120"/>
              </a:rPr>
              <a:t>Seal funded</a:t>
            </a:r>
            <a:endParaRPr lang="en-US" sz="1800" dirty="0"/>
          </a:p>
        </p:txBody>
      </p:sp>
      <p:sp>
        <p:nvSpPr>
          <p:cNvPr id="10" name="Text 8"/>
          <p:cNvSpPr txBox="1"/>
          <p:nvPr/>
        </p:nvSpPr>
        <p:spPr>
          <a:xfrm>
            <a:off x="978408" y="4069080"/>
            <a:ext cx="2039112"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48 hours ago, from the operator's own wallet. 6 confirmations deep.</a:t>
            </a:r>
            <a:endParaRPr lang="en-US" sz="1250" dirty="0"/>
          </a:p>
        </p:txBody>
      </p:sp>
      <p:sp>
        <p:nvSpPr>
          <p:cNvPr id="11" name="Shape 9"/>
          <p:cNvSpPr/>
          <p:nvPr/>
        </p:nvSpPr>
        <p:spPr>
          <a:xfrm>
            <a:off x="3474720" y="3246120"/>
            <a:ext cx="2423160" cy="1783080"/>
          </a:xfrm>
          <a:prstGeom prst="roundRect">
            <a:avLst>
              <a:gd name="adj" fmla="val 4103"/>
            </a:avLst>
          </a:prstGeom>
          <a:solidFill>
            <a:srgbClr val="141A40"/>
          </a:solidFill>
          <a:ln w="9525">
            <a:solidFill>
              <a:srgbClr val="282E53"/>
            </a:solidFill>
            <a:prstDash val="solid"/>
          </a:ln>
        </p:spPr>
      </p:sp>
      <p:sp>
        <p:nvSpPr>
          <p:cNvPr id="12" name="Text 10"/>
          <p:cNvSpPr txBox="1"/>
          <p:nvPr/>
        </p:nvSpPr>
        <p:spPr>
          <a:xfrm>
            <a:off x="3675888" y="3401568"/>
            <a:ext cx="914400" cy="228600"/>
          </a:xfrm>
          <a:prstGeom prst="rect">
            <a:avLst/>
          </a:prstGeom>
          <a:noFill/>
          <a:ln/>
        </p:spPr>
        <p:txBody>
          <a:bodyPr wrap="square" lIns="0" tIns="0" rIns="0" bIns="0" rtlCol="0" anchor="t"/>
          <a:lstStyle/>
          <a:p>
            <a:pPr indent="0" marL="0">
              <a:buNone/>
            </a:pPr>
            <a:r>
              <a:rPr lang="en-US" sz="1100" dirty="0">
                <a:solidFill>
                  <a:srgbClr val="F2B33D"/>
                </a:solidFill>
                <a:latin typeface="Consolas" pitchFamily="34" charset="0"/>
                <a:ea typeface="Consolas" pitchFamily="34" charset="-122"/>
                <a:cs typeface="Consolas" pitchFamily="34" charset="-120"/>
              </a:rPr>
              <a:t>02</a:t>
            </a:r>
            <a:endParaRPr lang="en-US" sz="1100" dirty="0"/>
          </a:p>
        </p:txBody>
      </p:sp>
      <p:sp>
        <p:nvSpPr>
          <p:cNvPr id="13" name="Text 11"/>
          <p:cNvSpPr txBox="1"/>
          <p:nvPr/>
        </p:nvSpPr>
        <p:spPr>
          <a:xfrm>
            <a:off x="3675888" y="3657600"/>
            <a:ext cx="2057400" cy="365760"/>
          </a:xfrm>
          <a:prstGeom prst="rect">
            <a:avLst/>
          </a:prstGeom>
          <a:noFill/>
          <a:ln/>
        </p:spPr>
        <p:txBody>
          <a:bodyPr wrap="square" lIns="0" tIns="0" rIns="0" bIns="0" rtlCol="0" anchor="ctr"/>
          <a:lstStyle/>
          <a:p>
            <a:pPr indent="0" marL="0">
              <a:buNone/>
            </a:pPr>
            <a:r>
              <a:rPr lang="en-US" sz="1800" b="1" dirty="0">
                <a:solidFill>
                  <a:srgbClr val="EEF0FA"/>
                </a:solidFill>
                <a:latin typeface="Arial" pitchFamily="34" charset="0"/>
                <a:ea typeface="Arial" pitchFamily="34" charset="-122"/>
                <a:cs typeface="Arial" pitchFamily="34" charset="-120"/>
              </a:rPr>
              <a:t>Genesis signed</a:t>
            </a:r>
            <a:endParaRPr lang="en-US" sz="1800" dirty="0"/>
          </a:p>
        </p:txBody>
      </p:sp>
      <p:sp>
        <p:nvSpPr>
          <p:cNvPr id="14" name="Text 12"/>
          <p:cNvSpPr txBox="1"/>
          <p:nvPr/>
        </p:nvSpPr>
        <p:spPr>
          <a:xfrm>
            <a:off x="3675888" y="4069080"/>
            <a:ext cx="2039112"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On stage. The EntityID appears the moment it is signed.</a:t>
            </a:r>
            <a:endParaRPr lang="en-US" sz="1250" dirty="0"/>
          </a:p>
        </p:txBody>
      </p:sp>
      <p:sp>
        <p:nvSpPr>
          <p:cNvPr id="15" name="Shape 13"/>
          <p:cNvSpPr/>
          <p:nvPr/>
        </p:nvSpPr>
        <p:spPr>
          <a:xfrm>
            <a:off x="6172200" y="3246120"/>
            <a:ext cx="2423160" cy="1783080"/>
          </a:xfrm>
          <a:prstGeom prst="roundRect">
            <a:avLst>
              <a:gd name="adj" fmla="val 4103"/>
            </a:avLst>
          </a:prstGeom>
          <a:solidFill>
            <a:srgbClr val="141A40"/>
          </a:solidFill>
          <a:ln w="9525">
            <a:solidFill>
              <a:srgbClr val="282E53"/>
            </a:solidFill>
            <a:prstDash val="solid"/>
          </a:ln>
        </p:spPr>
      </p:sp>
      <p:sp>
        <p:nvSpPr>
          <p:cNvPr id="16" name="Text 14"/>
          <p:cNvSpPr txBox="1"/>
          <p:nvPr/>
        </p:nvSpPr>
        <p:spPr>
          <a:xfrm>
            <a:off x="6373368" y="3401568"/>
            <a:ext cx="914400" cy="228600"/>
          </a:xfrm>
          <a:prstGeom prst="rect">
            <a:avLst/>
          </a:prstGeom>
          <a:noFill/>
          <a:ln/>
        </p:spPr>
        <p:txBody>
          <a:bodyPr wrap="square" lIns="0" tIns="0" rIns="0" bIns="0" rtlCol="0" anchor="t"/>
          <a:lstStyle/>
          <a:p>
            <a:pPr indent="0" marL="0">
              <a:buNone/>
            </a:pPr>
            <a:r>
              <a:rPr lang="en-US" sz="1100" dirty="0">
                <a:solidFill>
                  <a:srgbClr val="F2B33D"/>
                </a:solidFill>
                <a:latin typeface="Consolas" pitchFamily="34" charset="0"/>
                <a:ea typeface="Consolas" pitchFamily="34" charset="-122"/>
                <a:cs typeface="Consolas" pitchFamily="34" charset="-120"/>
              </a:rPr>
              <a:t>03</a:t>
            </a:r>
            <a:endParaRPr lang="en-US" sz="1100" dirty="0"/>
          </a:p>
        </p:txBody>
      </p:sp>
      <p:sp>
        <p:nvSpPr>
          <p:cNvPr id="17" name="Text 15"/>
          <p:cNvSpPr txBox="1"/>
          <p:nvPr/>
        </p:nvSpPr>
        <p:spPr>
          <a:xfrm>
            <a:off x="6373368" y="3657600"/>
            <a:ext cx="2057400" cy="365760"/>
          </a:xfrm>
          <a:prstGeom prst="rect">
            <a:avLst/>
          </a:prstGeom>
          <a:noFill/>
          <a:ln/>
        </p:spPr>
        <p:txBody>
          <a:bodyPr wrap="square" lIns="0" tIns="0" rIns="0" bIns="0" rtlCol="0" anchor="ctr"/>
          <a:lstStyle/>
          <a:p>
            <a:pPr indent="0" marL="0">
              <a:buNone/>
            </a:pPr>
            <a:r>
              <a:rPr lang="en-US" sz="1800" b="1" dirty="0">
                <a:solidFill>
                  <a:srgbClr val="EEF0FA"/>
                </a:solidFill>
                <a:latin typeface="Arial" pitchFamily="34" charset="0"/>
                <a:ea typeface="Arial" pitchFamily="34" charset="-122"/>
                <a:cs typeface="Arial" pitchFamily="34" charset="-120"/>
              </a:rPr>
              <a:t>Verified</a:t>
            </a:r>
            <a:endParaRPr lang="en-US" sz="1800" dirty="0"/>
          </a:p>
        </p:txBody>
      </p:sp>
      <p:sp>
        <p:nvSpPr>
          <p:cNvPr id="18" name="Text 16"/>
          <p:cNvSpPr txBox="1"/>
          <p:nvPr/>
        </p:nvSpPr>
        <p:spPr>
          <a:xfrm>
            <a:off x="6373368" y="4069080"/>
            <a:ext cx="2039112"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Two independent verifiers report CURRENT from the same evidence.</a:t>
            </a:r>
            <a:endParaRPr lang="en-US" sz="1250" dirty="0"/>
          </a:p>
        </p:txBody>
      </p:sp>
      <p:sp>
        <p:nvSpPr>
          <p:cNvPr id="19" name="Shape 17"/>
          <p:cNvSpPr/>
          <p:nvPr/>
        </p:nvSpPr>
        <p:spPr>
          <a:xfrm>
            <a:off x="8869680" y="3246120"/>
            <a:ext cx="2423160" cy="1783080"/>
          </a:xfrm>
          <a:prstGeom prst="roundRect">
            <a:avLst>
              <a:gd name="adj" fmla="val 4103"/>
            </a:avLst>
          </a:prstGeom>
          <a:solidFill>
            <a:srgbClr val="141A40"/>
          </a:solidFill>
          <a:ln w="9525">
            <a:solidFill>
              <a:srgbClr val="282E53"/>
            </a:solidFill>
            <a:prstDash val="solid"/>
          </a:ln>
        </p:spPr>
      </p:sp>
      <p:sp>
        <p:nvSpPr>
          <p:cNvPr id="20" name="Text 18"/>
          <p:cNvSpPr txBox="1"/>
          <p:nvPr/>
        </p:nvSpPr>
        <p:spPr>
          <a:xfrm>
            <a:off x="9070848" y="3401568"/>
            <a:ext cx="914400" cy="228600"/>
          </a:xfrm>
          <a:prstGeom prst="rect">
            <a:avLst/>
          </a:prstGeom>
          <a:noFill/>
          <a:ln/>
        </p:spPr>
        <p:txBody>
          <a:bodyPr wrap="square" lIns="0" tIns="0" rIns="0" bIns="0" rtlCol="0" anchor="t"/>
          <a:lstStyle/>
          <a:p>
            <a:pPr indent="0" marL="0">
              <a:buNone/>
            </a:pPr>
            <a:r>
              <a:rPr lang="en-US" sz="1100" dirty="0">
                <a:solidFill>
                  <a:srgbClr val="F2B33D"/>
                </a:solidFill>
                <a:latin typeface="Consolas" pitchFamily="34" charset="0"/>
                <a:ea typeface="Consolas" pitchFamily="34" charset="-122"/>
                <a:cs typeface="Consolas" pitchFamily="34" charset="-120"/>
              </a:rPr>
              <a:t>04</a:t>
            </a:r>
            <a:endParaRPr lang="en-US" sz="1100" dirty="0"/>
          </a:p>
        </p:txBody>
      </p:sp>
      <p:sp>
        <p:nvSpPr>
          <p:cNvPr id="21" name="Text 19"/>
          <p:cNvSpPr txBox="1"/>
          <p:nvPr/>
        </p:nvSpPr>
        <p:spPr>
          <a:xfrm>
            <a:off x="9070848" y="3657600"/>
            <a:ext cx="2057400" cy="365760"/>
          </a:xfrm>
          <a:prstGeom prst="rect">
            <a:avLst/>
          </a:prstGeom>
          <a:noFill/>
          <a:ln/>
        </p:spPr>
        <p:txBody>
          <a:bodyPr wrap="square" lIns="0" tIns="0" rIns="0" bIns="0" rtlCol="0" anchor="ctr"/>
          <a:lstStyle/>
          <a:p>
            <a:pPr indent="0" marL="0">
              <a:buNone/>
            </a:pPr>
            <a:r>
              <a:rPr lang="en-US" sz="1800" b="1" dirty="0">
                <a:solidFill>
                  <a:srgbClr val="EEF0FA"/>
                </a:solidFill>
                <a:latin typeface="Arial" pitchFamily="34" charset="0"/>
                <a:ea typeface="Arial" pitchFamily="34" charset="-122"/>
                <a:cs typeface="Arial" pitchFamily="34" charset="-120"/>
              </a:rPr>
              <a:t>Named</a:t>
            </a:r>
            <a:endParaRPr lang="en-US" sz="1800" dirty="0"/>
          </a:p>
        </p:txBody>
      </p:sp>
      <p:sp>
        <p:nvSpPr>
          <p:cNvPr id="22" name="Text 20"/>
          <p:cNvSpPr txBox="1"/>
          <p:nvPr/>
        </p:nvSpPr>
        <p:spPr>
          <a:xfrm>
            <a:off x="9070848" y="4069080"/>
            <a:ext cx="2039112" cy="868680"/>
          </a:xfrm>
          <a:prstGeom prst="rect">
            <a:avLst/>
          </a:prstGeom>
          <a:noFill/>
          <a:ln/>
        </p:spPr>
        <p:txBody>
          <a:bodyPr wrap="square" lIns="0" tIns="0" rIns="0" bIns="0" rtlCol="0" anchor="t"/>
          <a:lstStyle/>
          <a:p>
            <a:pPr indent="0" marL="0">
              <a:spcAft>
                <a:spcPts val="600"/>
              </a:spcAft>
              <a:buNone/>
            </a:pPr>
            <a:r>
              <a:rPr lang="en-US" sz="1250" dirty="0">
                <a:solidFill>
                  <a:srgbClr val="B9BEDD"/>
                </a:solidFill>
                <a:latin typeface="Arial" pitchFamily="34" charset="0"/>
                <a:ea typeface="Arial" pitchFamily="34" charset="-122"/>
                <a:cs typeface="Arial" pitchFamily="34" charset="-120"/>
              </a:rPr>
              <a:t>The artist signs one official_name claim with their own key.</a:t>
            </a:r>
            <a:endParaRPr lang="en-US" sz="1250" dirty="0"/>
          </a:p>
        </p:txBody>
      </p:sp>
      <p:sp>
        <p:nvSpPr>
          <p:cNvPr id="23" name="Text 21"/>
          <p:cNvSpPr txBox="1"/>
          <p:nvPr/>
        </p:nvSpPr>
        <p:spPr>
          <a:xfrm>
            <a:off x="777240" y="5394960"/>
            <a:ext cx="10515600" cy="320040"/>
          </a:xfrm>
          <a:prstGeom prst="rect">
            <a:avLst/>
          </a:prstGeom>
          <a:noFill/>
          <a:ln/>
        </p:spPr>
        <p:txBody>
          <a:bodyPr wrap="square" lIns="0" tIns="0" rIns="0" bIns="0" rtlCol="0" anchor="t"/>
          <a:lstStyle/>
          <a:p>
            <a:pPr indent="0" marL="0">
              <a:buNone/>
            </a:pPr>
            <a:r>
              <a:rPr lang="en-US" sz="1100" dirty="0">
                <a:solidFill>
                  <a:srgbClr val="B9BEDD"/>
                </a:solidFill>
                <a:latin typeface="Consolas" pitchFamily="34" charset="0"/>
                <a:ea typeface="Consolas" pitchFamily="34" charset="-122"/>
                <a:cs typeface="Consolas" pitchFamily="34" charset="-120"/>
              </a:rPr>
              <a:t>Permanent. Held by the artist. Rehearsed three times on signet — the network is a configuration, the same code.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13</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Roadmap</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From a live demo to a mainnet identity,</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gate by gate.</a:t>
            </a:r>
            <a:endParaRPr lang="en-US" sz="3600" dirty="0"/>
          </a:p>
        </p:txBody>
      </p:sp>
      <p:sp>
        <p:nvSpPr>
          <p:cNvPr id="6" name="Shape 4"/>
          <p:cNvSpPr/>
          <p:nvPr/>
        </p:nvSpPr>
        <p:spPr>
          <a:xfrm>
            <a:off x="777240" y="2743200"/>
            <a:ext cx="10637215" cy="0"/>
          </a:xfrm>
          <a:prstGeom prst="line">
            <a:avLst/>
          </a:prstGeom>
          <a:noFill/>
          <a:ln w="19050">
            <a:solidFill>
              <a:srgbClr val="32385A"/>
            </a:solidFill>
            <a:prstDash val="solid"/>
          </a:ln>
        </p:spPr>
      </p:sp>
      <p:sp>
        <p:nvSpPr>
          <p:cNvPr id="7" name="Shape 5"/>
          <p:cNvSpPr/>
          <p:nvPr/>
        </p:nvSpPr>
        <p:spPr>
          <a:xfrm>
            <a:off x="777240" y="2743200"/>
            <a:ext cx="1808327" cy="0"/>
          </a:xfrm>
          <a:prstGeom prst="line">
            <a:avLst/>
          </a:prstGeom>
          <a:noFill/>
          <a:ln w="31750">
            <a:solidFill>
              <a:srgbClr val="F2B33D"/>
            </a:solidFill>
            <a:prstDash val="solid"/>
          </a:ln>
        </p:spPr>
      </p:sp>
      <p:sp>
        <p:nvSpPr>
          <p:cNvPr id="8" name="Text 6"/>
          <p:cNvSpPr txBox="1"/>
          <p:nvPr/>
        </p:nvSpPr>
        <p:spPr>
          <a:xfrm>
            <a:off x="777240" y="2377440"/>
            <a:ext cx="1944563" cy="256032"/>
          </a:xfrm>
          <a:prstGeom prst="rect">
            <a:avLst/>
          </a:prstGeom>
          <a:noFill/>
          <a:ln/>
        </p:spPr>
        <p:txBody>
          <a:bodyPr wrap="square" lIns="0" tIns="0" rIns="0" bIns="0" rtlCol="0" anchor="t"/>
          <a:lstStyle/>
          <a:p>
            <a:pPr indent="0" marL="0">
              <a:buNone/>
            </a:pPr>
            <a:r>
              <a:rPr lang="en-US" sz="1100" dirty="0">
                <a:solidFill>
                  <a:srgbClr val="F2B33D"/>
                </a:solidFill>
                <a:latin typeface="Consolas" pitchFamily="34" charset="0"/>
                <a:ea typeface="Consolas" pitchFamily="34" charset="-122"/>
                <a:cs typeface="Consolas" pitchFamily="34" charset="-120"/>
              </a:rPr>
              <a:t>Oct 2026</a:t>
            </a:r>
            <a:endParaRPr lang="en-US" sz="1100" dirty="0"/>
          </a:p>
        </p:txBody>
      </p:sp>
      <p:sp>
        <p:nvSpPr>
          <p:cNvPr id="9" name="Shape 7"/>
          <p:cNvSpPr/>
          <p:nvPr/>
        </p:nvSpPr>
        <p:spPr>
          <a:xfrm>
            <a:off x="768096" y="2670048"/>
            <a:ext cx="146304" cy="146304"/>
          </a:xfrm>
          <a:prstGeom prst="ellipse">
            <a:avLst/>
          </a:prstGeom>
          <a:solidFill>
            <a:srgbClr val="F2B33D"/>
          </a:solidFill>
          <a:ln w="6350">
            <a:solidFill>
              <a:srgbClr val="F2B33D"/>
            </a:solidFill>
            <a:prstDash val="solid"/>
          </a:ln>
        </p:spPr>
      </p:sp>
      <p:sp>
        <p:nvSpPr>
          <p:cNvPr id="10" name="Text 8"/>
          <p:cNvSpPr txBox="1"/>
          <p:nvPr/>
        </p:nvSpPr>
        <p:spPr>
          <a:xfrm>
            <a:off x="777240" y="3017520"/>
            <a:ext cx="1898843" cy="594360"/>
          </a:xfrm>
          <a:prstGeom prst="rect">
            <a:avLst/>
          </a:prstGeom>
          <a:noFill/>
          <a:ln/>
        </p:spPr>
        <p:txBody>
          <a:bodyPr wrap="square" lIns="0" tIns="0" rIns="0" bIns="0" rtlCol="0" anchor="t"/>
          <a:lstStyle/>
          <a:p>
            <a:pPr indent="0" marL="0">
              <a:buNone/>
            </a:pPr>
            <a:r>
              <a:rPr lang="en-US" sz="1500" b="1" dirty="0">
                <a:solidFill>
                  <a:srgbClr val="EEF0FA"/>
                </a:solidFill>
                <a:latin typeface="Arial" pitchFamily="34" charset="0"/>
                <a:ea typeface="Arial" pitchFamily="34" charset="-122"/>
                <a:cs typeface="Arial" pitchFamily="34" charset="-120"/>
              </a:rPr>
              <a:t>Block 0 on mainnet</a:t>
            </a:r>
            <a:endParaRPr lang="en-US" sz="1500" dirty="0"/>
          </a:p>
        </p:txBody>
      </p:sp>
      <p:sp>
        <p:nvSpPr>
          <p:cNvPr id="11" name="Text 9"/>
          <p:cNvSpPr txBox="1"/>
          <p:nvPr/>
        </p:nvSpPr>
        <p:spPr>
          <a:xfrm>
            <a:off x="777240" y="3657600"/>
            <a:ext cx="1853123" cy="1417320"/>
          </a:xfrm>
          <a:prstGeom prst="rect">
            <a:avLst/>
          </a:prstGeom>
          <a:noFill/>
          <a:ln/>
        </p:spPr>
        <p:txBody>
          <a:bodyPr wrap="square" lIns="0" tIns="0" rIns="0" bIns="0" rtlCol="0" anchor="t"/>
          <a:lstStyle/>
          <a:p>
            <a:pPr indent="0" marL="0">
              <a:spcAft>
                <a:spcPts val="600"/>
              </a:spcAft>
              <a:buNone/>
            </a:pPr>
            <a:r>
              <a:rPr lang="en-US" sz="1150" dirty="0">
                <a:solidFill>
                  <a:srgbClr val="B9BEDD"/>
                </a:solidFill>
                <a:latin typeface="Arial" pitchFamily="34" charset="0"/>
                <a:ea typeface="Arial" pitchFamily="34" charset="-122"/>
                <a:cs typeface="Arial" pitchFamily="34" charset="-120"/>
              </a:rPr>
              <a:t>The first identity, minted live on stage. Permanent, held by the artist.</a:t>
            </a:r>
            <a:endParaRPr lang="en-US" sz="1150" dirty="0"/>
          </a:p>
        </p:txBody>
      </p:sp>
      <p:sp>
        <p:nvSpPr>
          <p:cNvPr id="12" name="Text 10"/>
          <p:cNvSpPr txBox="1"/>
          <p:nvPr/>
        </p:nvSpPr>
        <p:spPr>
          <a:xfrm>
            <a:off x="777240" y="5166360"/>
            <a:ext cx="1853123" cy="685800"/>
          </a:xfrm>
          <a:prstGeom prst="rect">
            <a:avLst/>
          </a:prstGeom>
          <a:noFill/>
          <a:ln/>
        </p:spPr>
        <p:txBody>
          <a:bodyPr wrap="square" lIns="0" tIns="0" rIns="0" bIns="0" rtlCol="0" anchor="t"/>
          <a:lstStyle/>
          <a:p>
            <a:pPr indent="0" marL="0">
              <a:buNone/>
            </a:pPr>
            <a:r>
              <a:rPr lang="en-US" sz="950" dirty="0">
                <a:solidFill>
                  <a:srgbClr val="7E85B0"/>
                </a:solidFill>
                <a:latin typeface="Consolas" pitchFamily="34" charset="0"/>
                <a:ea typeface="Consolas" pitchFamily="34" charset="-122"/>
                <a:cs typeface="Consolas" pitchFamily="34" charset="-120"/>
              </a:rPr>
              <a:t>gate: frozen genesis format and three signet rehearsals</a:t>
            </a:r>
            <a:endParaRPr lang="en-US" sz="950" dirty="0"/>
          </a:p>
        </p:txBody>
      </p:sp>
      <p:sp>
        <p:nvSpPr>
          <p:cNvPr id="13" name="Text 11"/>
          <p:cNvSpPr txBox="1"/>
          <p:nvPr/>
        </p:nvSpPr>
        <p:spPr>
          <a:xfrm>
            <a:off x="2904683" y="2377440"/>
            <a:ext cx="1944563" cy="256032"/>
          </a:xfrm>
          <a:prstGeom prst="rect">
            <a:avLst/>
          </a:prstGeom>
          <a:noFill/>
          <a:ln/>
        </p:spPr>
        <p:txBody>
          <a:bodyPr wrap="square" lIns="0" tIns="0" rIns="0" bIns="0" rtlCol="0" anchor="t"/>
          <a:lstStyle/>
          <a:p>
            <a:pPr indent="0" marL="0">
              <a:buNone/>
            </a:pPr>
            <a:r>
              <a:rPr lang="en-US" sz="1100" dirty="0">
                <a:solidFill>
                  <a:srgbClr val="7E85B0"/>
                </a:solidFill>
                <a:latin typeface="Consolas" pitchFamily="34" charset="0"/>
                <a:ea typeface="Consolas" pitchFamily="34" charset="-122"/>
                <a:cs typeface="Consolas" pitchFamily="34" charset="-120"/>
              </a:rPr>
              <a:t>Q1 2027</a:t>
            </a:r>
            <a:endParaRPr lang="en-US" sz="1100" dirty="0"/>
          </a:p>
        </p:txBody>
      </p:sp>
      <p:sp>
        <p:nvSpPr>
          <p:cNvPr id="14" name="Shape 12"/>
          <p:cNvSpPr/>
          <p:nvPr/>
        </p:nvSpPr>
        <p:spPr>
          <a:xfrm>
            <a:off x="2895539" y="2670048"/>
            <a:ext cx="146304" cy="146304"/>
          </a:xfrm>
          <a:prstGeom prst="ellipse">
            <a:avLst/>
          </a:prstGeom>
          <a:solidFill>
            <a:srgbClr val="32385A"/>
          </a:solidFill>
          <a:ln w="6350">
            <a:solidFill>
              <a:srgbClr val="32385A"/>
            </a:solidFill>
            <a:prstDash val="solid"/>
          </a:ln>
        </p:spPr>
      </p:sp>
      <p:sp>
        <p:nvSpPr>
          <p:cNvPr id="15" name="Text 13"/>
          <p:cNvSpPr txBox="1"/>
          <p:nvPr/>
        </p:nvSpPr>
        <p:spPr>
          <a:xfrm>
            <a:off x="2904683" y="3017520"/>
            <a:ext cx="1898843" cy="594360"/>
          </a:xfrm>
          <a:prstGeom prst="rect">
            <a:avLst/>
          </a:prstGeom>
          <a:noFill/>
          <a:ln/>
        </p:spPr>
        <p:txBody>
          <a:bodyPr wrap="square" lIns="0" tIns="0" rIns="0" bIns="0" rtlCol="0" anchor="t"/>
          <a:lstStyle/>
          <a:p>
            <a:pPr indent="0" marL="0">
              <a:buNone/>
            </a:pPr>
            <a:r>
              <a:rPr lang="en-US" sz="1500" b="1" dirty="0">
                <a:solidFill>
                  <a:srgbClr val="EEF0FA"/>
                </a:solidFill>
                <a:latin typeface="Arial" pitchFamily="34" charset="0"/>
                <a:ea typeface="Arial" pitchFamily="34" charset="-122"/>
                <a:cs typeface="Arial" pitchFamily="34" charset="-120"/>
              </a:rPr>
              <a:t>Minimum wallet</a:t>
            </a:r>
            <a:endParaRPr lang="en-US" sz="1500" dirty="0"/>
          </a:p>
        </p:txBody>
      </p:sp>
      <p:sp>
        <p:nvSpPr>
          <p:cNvPr id="16" name="Text 14"/>
          <p:cNvSpPr txBox="1"/>
          <p:nvPr/>
        </p:nvSpPr>
        <p:spPr>
          <a:xfrm>
            <a:off x="2904683" y="3657600"/>
            <a:ext cx="1853123" cy="1417320"/>
          </a:xfrm>
          <a:prstGeom prst="rect">
            <a:avLst/>
          </a:prstGeom>
          <a:noFill/>
          <a:ln/>
        </p:spPr>
        <p:txBody>
          <a:bodyPr wrap="square" lIns="0" tIns="0" rIns="0" bIns="0" rtlCol="0" anchor="t"/>
          <a:lstStyle/>
          <a:p>
            <a:pPr indent="0" marL="0">
              <a:spcAft>
                <a:spcPts val="600"/>
              </a:spcAft>
              <a:buNone/>
            </a:pPr>
            <a:r>
              <a:rPr lang="en-US" sz="1150" dirty="0">
                <a:solidFill>
                  <a:srgbClr val="B9BEDD"/>
                </a:solidFill>
                <a:latin typeface="Arial" pitchFamily="34" charset="0"/>
                <a:ea typeface="Arial" pitchFamily="34" charset="-122"/>
                <a:cs typeface="Arial" pitchFamily="34" charset="-120"/>
              </a:rPr>
              <a:t>Self-custody, key rotation, threshold recovery, proof-package exchange, DNS and social checks.</a:t>
            </a:r>
            <a:endParaRPr lang="en-US" sz="1150" dirty="0"/>
          </a:p>
        </p:txBody>
      </p:sp>
      <p:sp>
        <p:nvSpPr>
          <p:cNvPr id="17" name="Text 15"/>
          <p:cNvSpPr txBox="1"/>
          <p:nvPr/>
        </p:nvSpPr>
        <p:spPr>
          <a:xfrm>
            <a:off x="2904683" y="5166360"/>
            <a:ext cx="1853123" cy="685800"/>
          </a:xfrm>
          <a:prstGeom prst="rect">
            <a:avLst/>
          </a:prstGeom>
          <a:noFill/>
          <a:ln/>
        </p:spPr>
        <p:txBody>
          <a:bodyPr wrap="square" lIns="0" tIns="0" rIns="0" bIns="0" rtlCol="0" anchor="t"/>
          <a:lstStyle/>
          <a:p>
            <a:pPr indent="0" marL="0">
              <a:buNone/>
            </a:pPr>
            <a:r>
              <a:rPr lang="en-US" sz="950" dirty="0">
                <a:solidFill>
                  <a:srgbClr val="7E85B0"/>
                </a:solidFill>
                <a:latin typeface="Consolas" pitchFamily="34" charset="0"/>
                <a:ea typeface="Consolas" pitchFamily="34" charset="-122"/>
                <a:cs typeface="Consolas" pitchFamily="34" charset="-120"/>
              </a:rPr>
              <a:t>gate: recovery and revocation proven end to end</a:t>
            </a:r>
            <a:endParaRPr lang="en-US" sz="950" dirty="0"/>
          </a:p>
        </p:txBody>
      </p:sp>
      <p:sp>
        <p:nvSpPr>
          <p:cNvPr id="18" name="Text 16"/>
          <p:cNvSpPr txBox="1"/>
          <p:nvPr/>
        </p:nvSpPr>
        <p:spPr>
          <a:xfrm>
            <a:off x="5032126" y="2377440"/>
            <a:ext cx="1944563" cy="256032"/>
          </a:xfrm>
          <a:prstGeom prst="rect">
            <a:avLst/>
          </a:prstGeom>
          <a:noFill/>
          <a:ln/>
        </p:spPr>
        <p:txBody>
          <a:bodyPr wrap="square" lIns="0" tIns="0" rIns="0" bIns="0" rtlCol="0" anchor="t"/>
          <a:lstStyle/>
          <a:p>
            <a:pPr indent="0" marL="0">
              <a:buNone/>
            </a:pPr>
            <a:r>
              <a:rPr lang="en-US" sz="1100" dirty="0">
                <a:solidFill>
                  <a:srgbClr val="7E85B0"/>
                </a:solidFill>
                <a:latin typeface="Consolas" pitchFamily="34" charset="0"/>
                <a:ea typeface="Consolas" pitchFamily="34" charset="-122"/>
                <a:cs typeface="Consolas" pitchFamily="34" charset="-120"/>
              </a:rPr>
              <a:t>Q2–Q3 2027</a:t>
            </a:r>
            <a:endParaRPr lang="en-US" sz="1100" dirty="0"/>
          </a:p>
        </p:txBody>
      </p:sp>
      <p:sp>
        <p:nvSpPr>
          <p:cNvPr id="19" name="Shape 17"/>
          <p:cNvSpPr/>
          <p:nvPr/>
        </p:nvSpPr>
        <p:spPr>
          <a:xfrm>
            <a:off x="5022982" y="2670048"/>
            <a:ext cx="146304" cy="146304"/>
          </a:xfrm>
          <a:prstGeom prst="ellipse">
            <a:avLst/>
          </a:prstGeom>
          <a:solidFill>
            <a:srgbClr val="32385A"/>
          </a:solidFill>
          <a:ln w="6350">
            <a:solidFill>
              <a:srgbClr val="32385A"/>
            </a:solidFill>
            <a:prstDash val="solid"/>
          </a:ln>
        </p:spPr>
      </p:sp>
      <p:sp>
        <p:nvSpPr>
          <p:cNvPr id="20" name="Text 18"/>
          <p:cNvSpPr txBox="1"/>
          <p:nvPr/>
        </p:nvSpPr>
        <p:spPr>
          <a:xfrm>
            <a:off x="5032126" y="3017520"/>
            <a:ext cx="1898843" cy="594360"/>
          </a:xfrm>
          <a:prstGeom prst="rect">
            <a:avLst/>
          </a:prstGeom>
          <a:noFill/>
          <a:ln/>
        </p:spPr>
        <p:txBody>
          <a:bodyPr wrap="square" lIns="0" tIns="0" rIns="0" bIns="0" rtlCol="0" anchor="t"/>
          <a:lstStyle/>
          <a:p>
            <a:pPr indent="0" marL="0">
              <a:buNone/>
            </a:pPr>
            <a:r>
              <a:rPr lang="en-US" sz="1500" b="1" dirty="0">
                <a:solidFill>
                  <a:srgbClr val="EEF0FA"/>
                </a:solidFill>
                <a:latin typeface="Arial" pitchFamily="34" charset="0"/>
                <a:ea typeface="Arial" pitchFamily="34" charset="-122"/>
                <a:cs typeface="Arial" pitchFamily="34" charset="-120"/>
              </a:rPr>
              <a:t>Pilot and public testnet</a:t>
            </a:r>
            <a:endParaRPr lang="en-US" sz="1500" dirty="0"/>
          </a:p>
        </p:txBody>
      </p:sp>
      <p:sp>
        <p:nvSpPr>
          <p:cNvPr id="21" name="Text 19"/>
          <p:cNvSpPr txBox="1"/>
          <p:nvPr/>
        </p:nvSpPr>
        <p:spPr>
          <a:xfrm>
            <a:off x="5032126" y="3657600"/>
            <a:ext cx="1853123" cy="1417320"/>
          </a:xfrm>
          <a:prstGeom prst="rect">
            <a:avLst/>
          </a:prstGeom>
          <a:noFill/>
          <a:ln/>
        </p:spPr>
        <p:txBody>
          <a:bodyPr wrap="square" lIns="0" tIns="0" rIns="0" bIns="0" rtlCol="0" anchor="t"/>
          <a:lstStyle/>
          <a:p>
            <a:pPr indent="0" marL="0">
              <a:spcAft>
                <a:spcPts val="600"/>
              </a:spcAft>
              <a:buNone/>
            </a:pPr>
            <a:r>
              <a:rPr lang="en-US" sz="1150" dirty="0">
                <a:solidFill>
                  <a:srgbClr val="B9BEDD"/>
                </a:solidFill>
                <a:latin typeface="Arial" pitchFamily="34" charset="0"/>
                <a:ea typeface="Arial" pitchFamily="34" charset="-122"/>
                <a:cs typeface="Arial" pitchFamily="34" charset="-120"/>
              </a:rPr>
              <a:t>10–50 real entities in one city and one venue network. Registry API. Measured verification time and disputes.</a:t>
            </a:r>
            <a:endParaRPr lang="en-US" sz="1150" dirty="0"/>
          </a:p>
        </p:txBody>
      </p:sp>
      <p:sp>
        <p:nvSpPr>
          <p:cNvPr id="22" name="Text 20"/>
          <p:cNvSpPr txBox="1"/>
          <p:nvPr/>
        </p:nvSpPr>
        <p:spPr>
          <a:xfrm>
            <a:off x="5032126" y="5166360"/>
            <a:ext cx="1853123" cy="685800"/>
          </a:xfrm>
          <a:prstGeom prst="rect">
            <a:avLst/>
          </a:prstGeom>
          <a:noFill/>
          <a:ln/>
        </p:spPr>
        <p:txBody>
          <a:bodyPr wrap="square" lIns="0" tIns="0" rIns="0" bIns="0" rtlCol="0" anchor="t"/>
          <a:lstStyle/>
          <a:p>
            <a:pPr indent="0" marL="0">
              <a:buNone/>
            </a:pPr>
            <a:r>
              <a:rPr lang="en-US" sz="950" dirty="0">
                <a:solidFill>
                  <a:srgbClr val="7E85B0"/>
                </a:solidFill>
                <a:latin typeface="Consolas" pitchFamily="34" charset="0"/>
                <a:ea typeface="Consolas" pitchFamily="34" charset="-122"/>
                <a:cs typeface="Consolas" pitchFamily="34" charset="-120"/>
              </a:rPr>
              <a:t>gate: pilot metrics and the RGB program for transitions</a:t>
            </a:r>
            <a:endParaRPr lang="en-US" sz="950" dirty="0"/>
          </a:p>
        </p:txBody>
      </p:sp>
      <p:sp>
        <p:nvSpPr>
          <p:cNvPr id="23" name="Text 21"/>
          <p:cNvSpPr txBox="1"/>
          <p:nvPr/>
        </p:nvSpPr>
        <p:spPr>
          <a:xfrm>
            <a:off x="7159569" y="2377440"/>
            <a:ext cx="1944563" cy="256032"/>
          </a:xfrm>
          <a:prstGeom prst="rect">
            <a:avLst/>
          </a:prstGeom>
          <a:noFill/>
          <a:ln/>
        </p:spPr>
        <p:txBody>
          <a:bodyPr wrap="square" lIns="0" tIns="0" rIns="0" bIns="0" rtlCol="0" anchor="t"/>
          <a:lstStyle/>
          <a:p>
            <a:pPr indent="0" marL="0">
              <a:buNone/>
            </a:pPr>
            <a:r>
              <a:rPr lang="en-US" sz="1100" dirty="0">
                <a:solidFill>
                  <a:srgbClr val="7E85B0"/>
                </a:solidFill>
                <a:latin typeface="Consolas" pitchFamily="34" charset="0"/>
                <a:ea typeface="Consolas" pitchFamily="34" charset="-122"/>
                <a:cs typeface="Consolas" pitchFamily="34" charset="-120"/>
              </a:rPr>
              <a:t>Q4 2027</a:t>
            </a:r>
            <a:endParaRPr lang="en-US" sz="1100" dirty="0"/>
          </a:p>
        </p:txBody>
      </p:sp>
      <p:sp>
        <p:nvSpPr>
          <p:cNvPr id="24" name="Shape 22"/>
          <p:cNvSpPr/>
          <p:nvPr/>
        </p:nvSpPr>
        <p:spPr>
          <a:xfrm>
            <a:off x="7150425" y="2670048"/>
            <a:ext cx="146304" cy="146304"/>
          </a:xfrm>
          <a:prstGeom prst="ellipse">
            <a:avLst/>
          </a:prstGeom>
          <a:solidFill>
            <a:srgbClr val="32385A"/>
          </a:solidFill>
          <a:ln w="6350">
            <a:solidFill>
              <a:srgbClr val="32385A"/>
            </a:solidFill>
            <a:prstDash val="solid"/>
          </a:ln>
        </p:spPr>
      </p:sp>
      <p:sp>
        <p:nvSpPr>
          <p:cNvPr id="25" name="Text 23"/>
          <p:cNvSpPr txBox="1"/>
          <p:nvPr/>
        </p:nvSpPr>
        <p:spPr>
          <a:xfrm>
            <a:off x="7159569" y="3017520"/>
            <a:ext cx="1898843" cy="594360"/>
          </a:xfrm>
          <a:prstGeom prst="rect">
            <a:avLst/>
          </a:prstGeom>
          <a:noFill/>
          <a:ln/>
        </p:spPr>
        <p:txBody>
          <a:bodyPr wrap="square" lIns="0" tIns="0" rIns="0" bIns="0" rtlCol="0" anchor="t"/>
          <a:lstStyle/>
          <a:p>
            <a:pPr indent="0" marL="0">
              <a:buNone/>
            </a:pPr>
            <a:r>
              <a:rPr lang="en-US" sz="1500" b="1" dirty="0">
                <a:solidFill>
                  <a:srgbClr val="EEF0FA"/>
                </a:solidFill>
                <a:latin typeface="Arial" pitchFamily="34" charset="0"/>
                <a:ea typeface="Arial" pitchFamily="34" charset="-122"/>
                <a:cs typeface="Arial" pitchFamily="34" charset="-120"/>
              </a:rPr>
              <a:t>Mainnet identity release</a:t>
            </a:r>
            <a:endParaRPr lang="en-US" sz="1500" dirty="0"/>
          </a:p>
        </p:txBody>
      </p:sp>
      <p:sp>
        <p:nvSpPr>
          <p:cNvPr id="26" name="Text 24"/>
          <p:cNvSpPr txBox="1"/>
          <p:nvPr/>
        </p:nvSpPr>
        <p:spPr>
          <a:xfrm>
            <a:off x="7159569" y="3657600"/>
            <a:ext cx="1853123" cy="1417320"/>
          </a:xfrm>
          <a:prstGeom prst="rect">
            <a:avLst/>
          </a:prstGeom>
          <a:noFill/>
          <a:ln/>
        </p:spPr>
        <p:txBody>
          <a:bodyPr wrap="square" lIns="0" tIns="0" rIns="0" bIns="0" rtlCol="0" anchor="t"/>
          <a:lstStyle/>
          <a:p>
            <a:pPr indent="0" marL="0">
              <a:spcAft>
                <a:spcPts val="600"/>
              </a:spcAft>
              <a:buNone/>
            </a:pPr>
            <a:r>
              <a:rPr lang="en-US" sz="1150" dirty="0">
                <a:solidFill>
                  <a:srgbClr val="B9BEDD"/>
                </a:solidFill>
                <a:latin typeface="Arial" pitchFamily="34" charset="0"/>
                <a:ea typeface="Arial" pitchFamily="34" charset="-122"/>
                <a:cs typeface="Arial" pitchFamily="34" charset="-120"/>
              </a:rPr>
              <a:t>Persistent identities for everyone. GatePass and SplitNight consume O2A in production.</a:t>
            </a:r>
            <a:endParaRPr lang="en-US" sz="1150" dirty="0"/>
          </a:p>
        </p:txBody>
      </p:sp>
      <p:sp>
        <p:nvSpPr>
          <p:cNvPr id="27" name="Text 25"/>
          <p:cNvSpPr txBox="1"/>
          <p:nvPr/>
        </p:nvSpPr>
        <p:spPr>
          <a:xfrm>
            <a:off x="7159569" y="5166360"/>
            <a:ext cx="1853123" cy="685800"/>
          </a:xfrm>
          <a:prstGeom prst="rect">
            <a:avLst/>
          </a:prstGeom>
          <a:noFill/>
          <a:ln/>
        </p:spPr>
        <p:txBody>
          <a:bodyPr wrap="square" lIns="0" tIns="0" rIns="0" bIns="0" rtlCol="0" anchor="t"/>
          <a:lstStyle/>
          <a:p>
            <a:pPr indent="0" marL="0">
              <a:buNone/>
            </a:pPr>
            <a:r>
              <a:rPr lang="en-US" sz="950" dirty="0">
                <a:solidFill>
                  <a:srgbClr val="7E85B0"/>
                </a:solidFill>
                <a:latin typeface="Consolas" pitchFamily="34" charset="0"/>
                <a:ea typeface="Consolas" pitchFamily="34" charset="-122"/>
                <a:cs typeface="Consolas" pitchFamily="34" charset="-120"/>
              </a:rPr>
              <a:t>gate: full derivation freeze and audited dependency lock</a:t>
            </a:r>
            <a:endParaRPr lang="en-US" sz="950" dirty="0"/>
          </a:p>
        </p:txBody>
      </p:sp>
      <p:sp>
        <p:nvSpPr>
          <p:cNvPr id="28" name="Text 26"/>
          <p:cNvSpPr txBox="1"/>
          <p:nvPr/>
        </p:nvSpPr>
        <p:spPr>
          <a:xfrm>
            <a:off x="9287012" y="2377440"/>
            <a:ext cx="1944563" cy="256032"/>
          </a:xfrm>
          <a:prstGeom prst="rect">
            <a:avLst/>
          </a:prstGeom>
          <a:noFill/>
          <a:ln/>
        </p:spPr>
        <p:txBody>
          <a:bodyPr wrap="square" lIns="0" tIns="0" rIns="0" bIns="0" rtlCol="0" anchor="t"/>
          <a:lstStyle/>
          <a:p>
            <a:pPr indent="0" marL="0">
              <a:buNone/>
            </a:pPr>
            <a:r>
              <a:rPr lang="en-US" sz="1100" dirty="0">
                <a:solidFill>
                  <a:srgbClr val="7E85B0"/>
                </a:solidFill>
                <a:latin typeface="Consolas" pitchFamily="34" charset="0"/>
                <a:ea typeface="Consolas" pitchFamily="34" charset="-122"/>
                <a:cs typeface="Consolas" pitchFamily="34" charset="-120"/>
              </a:rPr>
              <a:t>2028</a:t>
            </a:r>
            <a:endParaRPr lang="en-US" sz="1100" dirty="0"/>
          </a:p>
        </p:txBody>
      </p:sp>
      <p:sp>
        <p:nvSpPr>
          <p:cNvPr id="29" name="Shape 27"/>
          <p:cNvSpPr/>
          <p:nvPr/>
        </p:nvSpPr>
        <p:spPr>
          <a:xfrm>
            <a:off x="9277868" y="2670048"/>
            <a:ext cx="146304" cy="146304"/>
          </a:xfrm>
          <a:prstGeom prst="ellipse">
            <a:avLst/>
          </a:prstGeom>
          <a:solidFill>
            <a:srgbClr val="32385A"/>
          </a:solidFill>
          <a:ln w="6350">
            <a:solidFill>
              <a:srgbClr val="32385A"/>
            </a:solidFill>
            <a:prstDash val="solid"/>
          </a:ln>
        </p:spPr>
      </p:sp>
      <p:sp>
        <p:nvSpPr>
          <p:cNvPr id="30" name="Text 28"/>
          <p:cNvSpPr txBox="1"/>
          <p:nvPr/>
        </p:nvSpPr>
        <p:spPr>
          <a:xfrm>
            <a:off x="9287012" y="3017520"/>
            <a:ext cx="1898843" cy="594360"/>
          </a:xfrm>
          <a:prstGeom prst="rect">
            <a:avLst/>
          </a:prstGeom>
          <a:noFill/>
          <a:ln/>
        </p:spPr>
        <p:txBody>
          <a:bodyPr wrap="square" lIns="0" tIns="0" rIns="0" bIns="0" rtlCol="0" anchor="t"/>
          <a:lstStyle/>
          <a:p>
            <a:pPr indent="0" marL="0">
              <a:buNone/>
            </a:pPr>
            <a:r>
              <a:rPr lang="en-US" sz="1500" b="1" dirty="0">
                <a:solidFill>
                  <a:srgbClr val="EEF0FA"/>
                </a:solidFill>
                <a:latin typeface="Arial" pitchFamily="34" charset="0"/>
                <a:ea typeface="Arial" pitchFamily="34" charset="-122"/>
                <a:cs typeface="Arial" pitchFamily="34" charset="-120"/>
              </a:rPr>
              <a:t>Ecosystem</a:t>
            </a:r>
            <a:endParaRPr lang="en-US" sz="1500" dirty="0"/>
          </a:p>
        </p:txBody>
      </p:sp>
      <p:sp>
        <p:nvSpPr>
          <p:cNvPr id="31" name="Text 29"/>
          <p:cNvSpPr txBox="1"/>
          <p:nvPr/>
        </p:nvSpPr>
        <p:spPr>
          <a:xfrm>
            <a:off x="9287012" y="3657600"/>
            <a:ext cx="1853123" cy="1417320"/>
          </a:xfrm>
          <a:prstGeom prst="rect">
            <a:avLst/>
          </a:prstGeom>
          <a:noFill/>
          <a:ln/>
        </p:spPr>
        <p:txBody>
          <a:bodyPr wrap="square" lIns="0" tIns="0" rIns="0" bIns="0" rtlCol="0" anchor="t"/>
          <a:lstStyle/>
          <a:p>
            <a:pPr indent="0" marL="0">
              <a:spcAft>
                <a:spcPts val="600"/>
              </a:spcAft>
              <a:buNone/>
            </a:pPr>
            <a:r>
              <a:rPr lang="en-US" sz="1150" dirty="0">
                <a:solidFill>
                  <a:srgbClr val="B9BEDD"/>
                </a:solidFill>
                <a:latin typeface="Arial" pitchFamily="34" charset="0"/>
                <a:ea typeface="Arial" pitchFamily="34" charset="-122"/>
                <a:cs typeface="Arial" pitchFamily="34" charset="-120"/>
              </a:rPr>
              <a:t>Paid authorizations, rights profiles, federated registries, many applications on one identity layer.</a:t>
            </a:r>
            <a:endParaRPr lang="en-US" sz="1150" dirty="0"/>
          </a:p>
        </p:txBody>
      </p:sp>
      <p:sp>
        <p:nvSpPr>
          <p:cNvPr id="32" name="Text 30"/>
          <p:cNvSpPr txBox="1"/>
          <p:nvPr/>
        </p:nvSpPr>
        <p:spPr>
          <a:xfrm>
            <a:off x="9287012" y="5166360"/>
            <a:ext cx="1853123" cy="685800"/>
          </a:xfrm>
          <a:prstGeom prst="rect">
            <a:avLst/>
          </a:prstGeom>
          <a:noFill/>
          <a:ln/>
        </p:spPr>
        <p:txBody>
          <a:bodyPr wrap="square" lIns="0" tIns="0" rIns="0" bIns="0" rtlCol="0" anchor="t"/>
          <a:lstStyle/>
          <a:p>
            <a:pPr indent="0" marL="0">
              <a:buNone/>
            </a:pPr>
            <a:r>
              <a:rPr lang="en-US" sz="950" dirty="0">
                <a:solidFill>
                  <a:srgbClr val="7E85B0"/>
                </a:solidFill>
                <a:latin typeface="Consolas" pitchFamily="34" charset="0"/>
                <a:ea typeface="Consolas" pitchFamily="34" charset="-122"/>
                <a:cs typeface="Consolas" pitchFamily="34" charset="-120"/>
              </a:rPr>
              <a:t>scale by adding evidence and apps, never by rewriting identity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14</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The first pilot</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One city. One venue network.</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Numbers, not opinions.</a:t>
            </a:r>
            <a:endParaRPr lang="en-US" sz="3600" dirty="0"/>
          </a:p>
        </p:txBody>
      </p:sp>
      <p:sp>
        <p:nvSpPr>
          <p:cNvPr id="6" name="Text 4"/>
          <p:cNvSpPr txBox="1"/>
          <p:nvPr/>
        </p:nvSpPr>
        <p:spPr>
          <a:xfrm>
            <a:off x="777240" y="2423160"/>
            <a:ext cx="4937760" cy="320040"/>
          </a:xfrm>
          <a:prstGeom prst="rect">
            <a:avLst/>
          </a:prstGeom>
          <a:noFill/>
          <a:ln/>
        </p:spPr>
        <p:txBody>
          <a:bodyPr wrap="square" lIns="0" tIns="0" rIns="0" bIns="0" rtlCol="0" anchor="ctr"/>
          <a:lstStyle/>
          <a:p>
            <a:pPr indent="0" marL="0">
              <a:buNone/>
            </a:pPr>
            <a:r>
              <a:rPr lang="en-US" sz="1700" b="1" dirty="0">
                <a:solidFill>
                  <a:srgbClr val="F2B33D"/>
                </a:solidFill>
                <a:latin typeface="Arial" pitchFamily="34" charset="0"/>
                <a:ea typeface="Arial" pitchFamily="34" charset="-122"/>
                <a:cs typeface="Arial" pitchFamily="34" charset="-120"/>
              </a:rPr>
              <a:t>What we run</a:t>
            </a:r>
            <a:endParaRPr lang="en-US" sz="1700" dirty="0"/>
          </a:p>
        </p:txBody>
      </p:sp>
      <p:sp>
        <p:nvSpPr>
          <p:cNvPr id="7" name="Text 5"/>
          <p:cNvSpPr txBox="1"/>
          <p:nvPr/>
        </p:nvSpPr>
        <p:spPr>
          <a:xfrm>
            <a:off x="777240" y="2834640"/>
            <a:ext cx="4937760" cy="2377440"/>
          </a:xfrm>
          <a:prstGeom prst="rect">
            <a:avLst/>
          </a:prstGeom>
          <a:noFill/>
          <a:ln/>
        </p:spPr>
        <p:txBody>
          <a:bodyPr wrap="square" lIns="0" tIns="0" rIns="0" bIns="0" rtlCol="0" anchor="t"/>
          <a:lstStyle/>
          <a:p>
            <a:pPr indent="0" marL="0">
              <a:spcAft>
                <a:spcPts val="1000"/>
              </a:spcAft>
              <a:buNone/>
            </a:pPr>
            <a:r>
              <a:rPr lang="en-US" sz="1350" dirty="0">
                <a:solidFill>
                  <a:srgbClr val="B9BEDD"/>
                </a:solidFill>
                <a:latin typeface="Arial" pitchFamily="34" charset="0"/>
                <a:ea typeface="Arial" pitchFamily="34" charset="-122"/>
                <a:cs typeface="Arial" pitchFamily="34" charset="-120"/>
              </a:rPr>
              <a:t>10 to 50 artists, venues and promoters in a market we already operate in. Real bookings, real attestations, a manual trust policy we tune with participants, and a simple registry anyone can rebuild from the evidence.</a:t>
            </a:r>
            <a:endParaRPr lang="en-US" sz="1350" dirty="0"/>
          </a:p>
          <a:p>
            <a:pPr indent="0" marL="0">
              <a:spcAft>
                <a:spcPts val="1000"/>
              </a:spcAft>
              <a:buNone/>
            </a:pPr>
            <a:r>
              <a:rPr lang="en-US" sz="1350" dirty="0">
                <a:solidFill>
                  <a:srgbClr val="B9BEDD"/>
                </a:solidFill>
                <a:latin typeface="Arial" pitchFamily="34" charset="0"/>
                <a:ea typeface="Arial" pitchFamily="34" charset="-122"/>
                <a:cs typeface="Arial" pitchFamily="34" charset="-120"/>
              </a:rPr>
              <a:t>Our own ticketing operation is the first integrator, so the pilot starts with counterparties who already work together.</a:t>
            </a:r>
            <a:endParaRPr lang="en-US" sz="1350" dirty="0"/>
          </a:p>
        </p:txBody>
      </p:sp>
      <p:sp>
        <p:nvSpPr>
          <p:cNvPr id="8" name="Text 6"/>
          <p:cNvSpPr txBox="1"/>
          <p:nvPr/>
        </p:nvSpPr>
        <p:spPr>
          <a:xfrm>
            <a:off x="6172200" y="2423160"/>
            <a:ext cx="4937760" cy="320040"/>
          </a:xfrm>
          <a:prstGeom prst="rect">
            <a:avLst/>
          </a:prstGeom>
          <a:noFill/>
          <a:ln/>
        </p:spPr>
        <p:txBody>
          <a:bodyPr wrap="square" lIns="0" tIns="0" rIns="0" bIns="0" rtlCol="0" anchor="ctr"/>
          <a:lstStyle/>
          <a:p>
            <a:pPr indent="0" marL="0">
              <a:buNone/>
            </a:pPr>
            <a:r>
              <a:rPr lang="en-US" sz="1700" b="1" dirty="0">
                <a:solidFill>
                  <a:srgbClr val="F2B33D"/>
                </a:solidFill>
                <a:latin typeface="Arial" pitchFamily="34" charset="0"/>
                <a:ea typeface="Arial" pitchFamily="34" charset="-122"/>
                <a:cs typeface="Arial" pitchFamily="34" charset="-120"/>
              </a:rPr>
              <a:t>What we measure</a:t>
            </a:r>
            <a:endParaRPr lang="en-US" sz="1700" dirty="0"/>
          </a:p>
        </p:txBody>
      </p:sp>
      <p:sp>
        <p:nvSpPr>
          <p:cNvPr id="9" name="Text 7"/>
          <p:cNvSpPr txBox="1"/>
          <p:nvPr/>
        </p:nvSpPr>
        <p:spPr>
          <a:xfrm>
            <a:off x="6172200" y="2834640"/>
            <a:ext cx="4937760" cy="2377440"/>
          </a:xfrm>
          <a:prstGeom prst="rect">
            <a:avLst/>
          </a:prstGeom>
          <a:noFill/>
          <a:ln/>
        </p:spPr>
        <p:txBody>
          <a:bodyPr wrap="square" lIns="0" tIns="0" rIns="0" bIns="0" rtlCol="0" anchor="t"/>
          <a:lstStyle/>
          <a:p>
            <a:pPr indent="0" marL="0">
              <a:spcAft>
                <a:spcPts val="1000"/>
              </a:spcAft>
              <a:buNone/>
            </a:pPr>
            <a:r>
              <a:rPr lang="en-US" sz="1350" dirty="0">
                <a:solidFill>
                  <a:srgbClr val="B9BEDD"/>
                </a:solidFill>
                <a:latin typeface="Arial" pitchFamily="34" charset="0"/>
                <a:ea typeface="Arial" pitchFamily="34" charset="-122"/>
                <a:cs typeface="Arial" pitchFamily="34" charset="-120"/>
              </a:rPr>
              <a:t>Time and manual steps to verify a new counterparty, with and without O2A. Which evidence participants can actually provide. Verification errors and unresolved disputes. The effort of managing keys and recovery.</a:t>
            </a:r>
            <a:endParaRPr lang="en-US" sz="1350" dirty="0"/>
          </a:p>
          <a:p>
            <a:pPr indent="0" marL="0">
              <a:spcAft>
                <a:spcPts val="1000"/>
              </a:spcAft>
              <a:buNone/>
            </a:pPr>
            <a:r>
              <a:rPr lang="en-US" sz="1350" dirty="0">
                <a:solidFill>
                  <a:srgbClr val="B9BEDD"/>
                </a:solidFill>
                <a:latin typeface="Arial" pitchFamily="34" charset="0"/>
                <a:ea typeface="Arial" pitchFamily="34" charset="-122"/>
                <a:cs typeface="Arial" pitchFamily="34" charset="-120"/>
              </a:rPr>
              <a:t>For paid authorizations: willingness to participate, net revenue after fees, time from payment to usable grant.</a:t>
            </a:r>
            <a:endParaRPr lang="en-US" sz="1350" dirty="0"/>
          </a:p>
        </p:txBody>
      </p:sp>
      <p:sp>
        <p:nvSpPr>
          <p:cNvPr id="10" name="Text 8"/>
          <p:cNvSpPr txBox="1"/>
          <p:nvPr/>
        </p:nvSpPr>
        <p:spPr>
          <a:xfrm>
            <a:off x="777240" y="5440680"/>
            <a:ext cx="10058400" cy="457200"/>
          </a:xfrm>
          <a:prstGeom prst="rect">
            <a:avLst/>
          </a:prstGeom>
          <a:noFill/>
          <a:ln/>
        </p:spPr>
        <p:txBody>
          <a:bodyPr wrap="square" lIns="0" tIns="0" rIns="0" bIns="0" rtlCol="0" anchor="t"/>
          <a:lstStyle/>
          <a:p>
            <a:pPr indent="0" marL="0">
              <a:spcAft>
                <a:spcPts val="600"/>
              </a:spcAft>
              <a:buNone/>
            </a:pPr>
            <a:r>
              <a:rPr lang="en-US" sz="1600" dirty="0">
                <a:solidFill>
                  <a:srgbClr val="EEF0FA"/>
                </a:solidFill>
                <a:latin typeface="Arial" pitchFamily="34" charset="0"/>
                <a:ea typeface="Arial" pitchFamily="34" charset="-122"/>
                <a:cs typeface="Arial" pitchFamily="34" charset="-120"/>
              </a:rPr>
              <a:t>A cryptographic demo proves the protocol. The pilot proves the workflow is worth adopting.</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15</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Why now</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The industry is asking the question.</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The rails are finally ready.</a:t>
            </a:r>
            <a:endParaRPr lang="en-US" sz="3600" dirty="0"/>
          </a:p>
        </p:txBody>
      </p:sp>
      <p:sp>
        <p:nvSpPr>
          <p:cNvPr id="6" name="Text 4"/>
          <p:cNvSpPr txBox="1"/>
          <p:nvPr/>
        </p:nvSpPr>
        <p:spPr>
          <a:xfrm>
            <a:off x="777240" y="2423160"/>
            <a:ext cx="329184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Identity is on the agenda</a:t>
            </a:r>
            <a:endParaRPr lang="en-US" sz="1600" dirty="0"/>
          </a:p>
        </p:txBody>
      </p:sp>
      <p:sp>
        <p:nvSpPr>
          <p:cNvPr id="7" name="Text 5"/>
          <p:cNvSpPr txBox="1"/>
          <p:nvPr/>
        </p:nvSpPr>
        <p:spPr>
          <a:xfrm>
            <a:off x="777240" y="2788920"/>
            <a:ext cx="3246120" cy="201168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In August 2026 the largest streaming platform named artist identity, profile protection and verification as a priority. Platform protections and portable evidence can now be tested side by side.</a:t>
            </a:r>
            <a:endParaRPr lang="en-US" sz="1300" dirty="0"/>
          </a:p>
        </p:txBody>
      </p:sp>
      <p:sp>
        <p:nvSpPr>
          <p:cNvPr id="8" name="Text 6"/>
          <p:cNvSpPr txBox="1"/>
          <p:nvPr/>
        </p:nvSpPr>
        <p:spPr>
          <a:xfrm>
            <a:off x="4343400" y="2423160"/>
            <a:ext cx="329184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The standards landed</a:t>
            </a:r>
            <a:endParaRPr lang="en-US" sz="1600" dirty="0"/>
          </a:p>
        </p:txBody>
      </p:sp>
      <p:sp>
        <p:nvSpPr>
          <p:cNvPr id="9" name="Text 7"/>
          <p:cNvSpPr txBox="1"/>
          <p:nvPr/>
        </p:nvSpPr>
        <p:spPr>
          <a:xfrm>
            <a:off x="4343400" y="2788920"/>
            <a:ext cx="3246120" cy="201168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W3C Verifiable Credentials 2.0 is a Recommendation. BIP340 and BIP85 are deployed in wallets today. There is nothing to invent at the cryptographic layer.</a:t>
            </a:r>
            <a:endParaRPr lang="en-US" sz="1300" dirty="0"/>
          </a:p>
        </p:txBody>
      </p:sp>
      <p:sp>
        <p:nvSpPr>
          <p:cNvPr id="10" name="Text 8"/>
          <p:cNvSpPr txBox="1"/>
          <p:nvPr/>
        </p:nvSpPr>
        <p:spPr>
          <a:xfrm>
            <a:off x="7909560" y="2423160"/>
            <a:ext cx="3291840" cy="320040"/>
          </a:xfrm>
          <a:prstGeom prst="rect">
            <a:avLst/>
          </a:prstGeom>
          <a:noFill/>
          <a:ln/>
        </p:spPr>
        <p:txBody>
          <a:bodyPr wrap="square" lIns="0" tIns="0" rIns="0" bIns="0" rtlCol="0" anchor="ctr"/>
          <a:lstStyle/>
          <a:p>
            <a:pPr indent="0" marL="0">
              <a:buNone/>
            </a:pPr>
            <a:r>
              <a:rPr lang="en-US" sz="1600" b="1" dirty="0">
                <a:solidFill>
                  <a:srgbClr val="EEF0FA"/>
                </a:solidFill>
                <a:latin typeface="Arial" pitchFamily="34" charset="0"/>
                <a:ea typeface="Arial" pitchFamily="34" charset="-122"/>
                <a:cs typeface="Arial" pitchFamily="34" charset="-120"/>
              </a:rPr>
              <a:t>RGB is live on mainnet</a:t>
            </a:r>
            <a:endParaRPr lang="en-US" sz="1600" dirty="0"/>
          </a:p>
        </p:txBody>
      </p:sp>
      <p:sp>
        <p:nvSpPr>
          <p:cNvPr id="11" name="Text 9"/>
          <p:cNvSpPr txBox="1"/>
          <p:nvPr/>
        </p:nvSpPr>
        <p:spPr>
          <a:xfrm>
            <a:off x="7909560" y="2788920"/>
            <a:ext cx="3246120" cy="201168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RGB v0.11.1 has run on Bitcoin mainnet since July 2025, with production wallets built on it. O2A's first identity transitions run on that line; our genesis format works with any RGB line.</a:t>
            </a:r>
            <a:endParaRPr lang="en-US" sz="1300" dirty="0"/>
          </a:p>
        </p:txBody>
      </p:sp>
      <p:sp>
        <p:nvSpPr>
          <p:cNvPr id="12" name="Text 10"/>
          <p:cNvSpPr txBox="1"/>
          <p:nvPr/>
        </p:nvSpPr>
        <p:spPr>
          <a:xfrm>
            <a:off x="777240" y="4983480"/>
            <a:ext cx="10241280" cy="822960"/>
          </a:xfrm>
          <a:prstGeom prst="rect">
            <a:avLst/>
          </a:prstGeom>
          <a:noFill/>
          <a:ln/>
        </p:spPr>
        <p:txBody>
          <a:bodyPr wrap="square" lIns="0" tIns="0" rIns="0" bIns="0" rtlCol="0" anchor="t"/>
          <a:lstStyle/>
          <a:p>
            <a:pPr indent="0" marL="0">
              <a:spcAft>
                <a:spcPts val="600"/>
              </a:spcAft>
              <a:buNone/>
            </a:pPr>
            <a:r>
              <a:rPr lang="en-US" sz="1600" dirty="0">
                <a:solidFill>
                  <a:srgbClr val="EEF0FA"/>
                </a:solidFill>
                <a:latin typeface="Arial" pitchFamily="34" charset="0"/>
                <a:ea typeface="Arial" pitchFamily="34" charset="-122"/>
                <a:cs typeface="Arial" pitchFamily="34" charset="-120"/>
              </a:rPr>
              <a:t>And the first territory is one we know from the inside: the live-events market across Central America and the Caribbean, where cross-border tours make identity fragmentation an everyday cost.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230"/>
        </a:solidFill>
      </p:bgPr>
    </p:bg>
    <p:spTree>
      <p:nvGrpSpPr>
        <p:cNvPr id="1" name=""/>
        <p:cNvGrpSpPr/>
        <p:nvPr/>
      </p:nvGrpSpPr>
      <p:grpSpPr>
        <a:xfrm>
          <a:off x="0" y="0"/>
          <a:ext cx="0" cy="0"/>
          <a:chOff x="0" y="0"/>
          <a:chExt cx="0" cy="0"/>
        </a:xfrm>
      </p:grpSpPr>
      <p:sp>
        <p:nvSpPr>
          <p:cNvPr id="2" name="Text 0"/>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3" name="Text 1"/>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16</a:t>
            </a:r>
            <a:endParaRPr lang="en-US" sz="1100" dirty="0"/>
          </a:p>
        </p:txBody>
      </p:sp>
      <p:sp>
        <p:nvSpPr>
          <p:cNvPr id="4" name="Text 2"/>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Team</a:t>
            </a:r>
            <a:endParaRPr lang="en-US" sz="1200" dirty="0"/>
          </a:p>
        </p:txBody>
      </p:sp>
      <p:sp>
        <p:nvSpPr>
          <p:cNvPr id="5" name="Text 3"/>
          <p:cNvSpPr txBox="1"/>
          <p:nvPr/>
        </p:nvSpPr>
        <p:spPr>
          <a:xfrm>
            <a:off x="777240" y="1005840"/>
            <a:ext cx="10424160" cy="1280160"/>
          </a:xfrm>
          <a:prstGeom prst="rect">
            <a:avLst/>
          </a:prstGeom>
          <a:noFill/>
          <a:ln/>
        </p:spPr>
        <p:txBody>
          <a:bodyPr wrap="square" lIns="0" tIns="0" rIns="0" bIns="0" rtlCol="0" anchor="t"/>
          <a:lstStyle/>
          <a:p>
            <a:pPr indent="0" marL="0">
              <a:buNone/>
            </a:pPr>
            <a:r>
              <a:rPr lang="en-US" sz="3600" b="1" dirty="0">
                <a:solidFill>
                  <a:srgbClr val="EEF0FA"/>
                </a:solidFill>
                <a:latin typeface="Arial" pitchFamily="34" charset="0"/>
                <a:ea typeface="Arial" pitchFamily="34" charset="-122"/>
                <a:cs typeface="Arial" pitchFamily="34" charset="-120"/>
              </a:rPr>
              <a:t>Operators of live events. Builders on</a:t>
            </a:r>
            <a:endParaRPr lang="en-US" sz="3600" dirty="0"/>
          </a:p>
          <a:p>
            <a:pPr indent="0" marL="0">
              <a:buNone/>
            </a:pPr>
            <a:r>
              <a:rPr lang="en-US" sz="3600" b="1" dirty="0">
                <a:solidFill>
                  <a:srgbClr val="EEF0FA"/>
                </a:solidFill>
                <a:latin typeface="Arial" pitchFamily="34" charset="0"/>
                <a:ea typeface="Arial" pitchFamily="34" charset="-122"/>
                <a:cs typeface="Arial" pitchFamily="34" charset="-120"/>
              </a:rPr>
              <a:t>Bitcoin since 2022.</a:t>
            </a:r>
            <a:endParaRPr lang="en-US" sz="3600" dirty="0"/>
          </a:p>
        </p:txBody>
      </p:sp>
      <p:sp>
        <p:nvSpPr>
          <p:cNvPr id="6" name="Shape 4"/>
          <p:cNvSpPr/>
          <p:nvPr/>
        </p:nvSpPr>
        <p:spPr>
          <a:xfrm>
            <a:off x="777240" y="2468880"/>
            <a:ext cx="457200" cy="0"/>
          </a:xfrm>
          <a:prstGeom prst="line">
            <a:avLst/>
          </a:prstGeom>
          <a:noFill/>
          <a:ln w="19050">
            <a:solidFill>
              <a:srgbClr val="9A8CFF"/>
            </a:solidFill>
            <a:prstDash val="solid"/>
          </a:ln>
        </p:spPr>
      </p:sp>
      <p:sp>
        <p:nvSpPr>
          <p:cNvPr id="7" name="Text 5"/>
          <p:cNvSpPr txBox="1"/>
          <p:nvPr/>
        </p:nvSpPr>
        <p:spPr>
          <a:xfrm>
            <a:off x="777240" y="2606040"/>
            <a:ext cx="329184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Jose Antonio Toriello</a:t>
            </a:r>
            <a:endParaRPr lang="en-US" sz="1700" dirty="0"/>
          </a:p>
        </p:txBody>
      </p:sp>
      <p:sp>
        <p:nvSpPr>
          <p:cNvPr id="8" name="Text 6"/>
          <p:cNvSpPr txBox="1"/>
          <p:nvPr/>
        </p:nvSpPr>
        <p:spPr>
          <a:xfrm>
            <a:off x="777240" y="2971800"/>
            <a:ext cx="3200400" cy="256032"/>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General Partner</a:t>
            </a:r>
            <a:endParaRPr lang="en-US" sz="1050" dirty="0"/>
          </a:p>
        </p:txBody>
      </p:sp>
      <p:sp>
        <p:nvSpPr>
          <p:cNvPr id="9" name="Text 7"/>
          <p:cNvSpPr txBox="1"/>
          <p:nvPr/>
        </p:nvSpPr>
        <p:spPr>
          <a:xfrm>
            <a:off x="777240" y="3337560"/>
            <a:ext cx="3200400" cy="155448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Leads Cortex and its investor product, PRONESYS, financing concert tours with short-term asset-backed notes.</a:t>
            </a:r>
            <a:endParaRPr lang="en-US" sz="1300" dirty="0"/>
          </a:p>
        </p:txBody>
      </p:sp>
      <p:sp>
        <p:nvSpPr>
          <p:cNvPr id="10" name="Shape 8"/>
          <p:cNvSpPr/>
          <p:nvPr/>
        </p:nvSpPr>
        <p:spPr>
          <a:xfrm>
            <a:off x="4343400" y="2468880"/>
            <a:ext cx="457200" cy="0"/>
          </a:xfrm>
          <a:prstGeom prst="line">
            <a:avLst/>
          </a:prstGeom>
          <a:noFill/>
          <a:ln w="19050">
            <a:solidFill>
              <a:srgbClr val="9A8CFF"/>
            </a:solidFill>
            <a:prstDash val="solid"/>
          </a:ln>
        </p:spPr>
      </p:sp>
      <p:sp>
        <p:nvSpPr>
          <p:cNvPr id="11" name="Text 9"/>
          <p:cNvSpPr txBox="1"/>
          <p:nvPr/>
        </p:nvSpPr>
        <p:spPr>
          <a:xfrm>
            <a:off x="4343400" y="2606040"/>
            <a:ext cx="329184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Gustavo "Goose" Gonzalez</a:t>
            </a:r>
            <a:endParaRPr lang="en-US" sz="1700" dirty="0"/>
          </a:p>
        </p:txBody>
      </p:sp>
      <p:sp>
        <p:nvSpPr>
          <p:cNvPr id="12" name="Text 10"/>
          <p:cNvSpPr txBox="1"/>
          <p:nvPr/>
        </p:nvSpPr>
        <p:spPr>
          <a:xfrm>
            <a:off x="4343400" y="2971800"/>
            <a:ext cx="3200400" cy="256032"/>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CTO</a:t>
            </a:r>
            <a:endParaRPr lang="en-US" sz="1050" dirty="0"/>
          </a:p>
        </p:txBody>
      </p:sp>
      <p:sp>
        <p:nvSpPr>
          <p:cNvPr id="13" name="Text 11"/>
          <p:cNvSpPr txBox="1"/>
          <p:nvPr/>
        </p:nvSpPr>
        <p:spPr>
          <a:xfrm>
            <a:off x="4343400" y="3337560"/>
            <a:ext cx="3200400" cy="155448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Runs the platform stack: ticketing, settlement and the SplitNight application on RGB.</a:t>
            </a:r>
            <a:endParaRPr lang="en-US" sz="1300" dirty="0"/>
          </a:p>
        </p:txBody>
      </p:sp>
      <p:sp>
        <p:nvSpPr>
          <p:cNvPr id="14" name="Shape 12"/>
          <p:cNvSpPr/>
          <p:nvPr/>
        </p:nvSpPr>
        <p:spPr>
          <a:xfrm>
            <a:off x="7909560" y="2468880"/>
            <a:ext cx="457200" cy="0"/>
          </a:xfrm>
          <a:prstGeom prst="line">
            <a:avLst/>
          </a:prstGeom>
          <a:noFill/>
          <a:ln w="19050">
            <a:solidFill>
              <a:srgbClr val="9A8CFF"/>
            </a:solidFill>
            <a:prstDash val="solid"/>
          </a:ln>
        </p:spPr>
      </p:sp>
      <p:sp>
        <p:nvSpPr>
          <p:cNvPr id="15" name="Text 13"/>
          <p:cNvSpPr txBox="1"/>
          <p:nvPr/>
        </p:nvSpPr>
        <p:spPr>
          <a:xfrm>
            <a:off x="7909560" y="2606040"/>
            <a:ext cx="3291840" cy="320040"/>
          </a:xfrm>
          <a:prstGeom prst="rect">
            <a:avLst/>
          </a:prstGeom>
          <a:noFill/>
          <a:ln/>
        </p:spPr>
        <p:txBody>
          <a:bodyPr wrap="square" lIns="0" tIns="0" rIns="0" bIns="0" rtlCol="0" anchor="ctr"/>
          <a:lstStyle/>
          <a:p>
            <a:pPr indent="0" marL="0">
              <a:buNone/>
            </a:pPr>
            <a:r>
              <a:rPr lang="en-US" sz="1700" b="1" dirty="0">
                <a:solidFill>
                  <a:srgbClr val="EEF0FA"/>
                </a:solidFill>
                <a:latin typeface="Arial" pitchFamily="34" charset="0"/>
                <a:ea typeface="Arial" pitchFamily="34" charset="-122"/>
                <a:cs typeface="Arial" pitchFamily="34" charset="-120"/>
              </a:rPr>
              <a:t>Edwin Kestler</a:t>
            </a:r>
            <a:endParaRPr lang="en-US" sz="1700" dirty="0"/>
          </a:p>
        </p:txBody>
      </p:sp>
      <p:sp>
        <p:nvSpPr>
          <p:cNvPr id="16" name="Text 14"/>
          <p:cNvSpPr txBox="1"/>
          <p:nvPr/>
        </p:nvSpPr>
        <p:spPr>
          <a:xfrm>
            <a:off x="7909560" y="2971800"/>
            <a:ext cx="3200400" cy="256032"/>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Chief Scientist</a:t>
            </a:r>
            <a:endParaRPr lang="en-US" sz="1050" dirty="0"/>
          </a:p>
        </p:txBody>
      </p:sp>
      <p:sp>
        <p:nvSpPr>
          <p:cNvPr id="17" name="Text 15"/>
          <p:cNvSpPr txBox="1"/>
          <p:nvPr/>
        </p:nvSpPr>
        <p:spPr>
          <a:xfrm>
            <a:off x="7909560" y="3337560"/>
            <a:ext cx="3200400" cy="155448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Author of CT-GOT and of the O2A protocol. Built a Lightning-connected arcade shown at Bitcoin Miami 2022; open-source work on GitHub, Hackaday and Hackster.</a:t>
            </a:r>
            <a:endParaRPr lang="en-US" sz="1300" dirty="0"/>
          </a:p>
        </p:txBody>
      </p:sp>
      <p:sp>
        <p:nvSpPr>
          <p:cNvPr id="18" name="Text 16"/>
          <p:cNvSpPr txBox="1"/>
          <p:nvPr/>
        </p:nvSpPr>
        <p:spPr>
          <a:xfrm>
            <a:off x="777240" y="5669280"/>
            <a:ext cx="10607040" cy="457200"/>
          </a:xfrm>
          <a:prstGeom prst="rect">
            <a:avLst/>
          </a:prstGeom>
          <a:noFill/>
          <a:ln/>
        </p:spPr>
        <p:txBody>
          <a:bodyPr wrap="square" lIns="0" tIns="0" rIns="0" bIns="0" rtlCol="0" anchor="t"/>
          <a:lstStyle/>
          <a:p>
            <a:pPr indent="0" marL="0">
              <a:buNone/>
            </a:pPr>
            <a:r>
              <a:rPr lang="en-US" sz="1050" dirty="0">
                <a:solidFill>
                  <a:srgbClr val="7E85B0"/>
                </a:solidFill>
                <a:latin typeface="Consolas" pitchFamily="34" charset="0"/>
                <a:ea typeface="Consolas" pitchFamily="34" charset="-122"/>
                <a:cs typeface="Consolas" pitchFamily="34" charset="-120"/>
              </a:rPr>
              <a:t>Cofounders of a ticketing platform operating across Central America and the Caribbean, with the sales data that made the identity problem visible in the first place.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230"/>
        </a:solidFill>
      </p:bgPr>
    </p:bg>
    <p:spTree>
      <p:nvGrpSpPr>
        <p:cNvPr id="1" name=""/>
        <p:cNvGrpSpPr/>
        <p:nvPr/>
      </p:nvGrpSpPr>
      <p:grpSpPr>
        <a:xfrm>
          <a:off x="0" y="0"/>
          <a:ext cx="0" cy="0"/>
          <a:chOff x="0" y="0"/>
          <a:chExt cx="0" cy="0"/>
        </a:xfrm>
      </p:grpSpPr>
      <p:sp>
        <p:nvSpPr>
          <p:cNvPr id="2" name="Shape 0"/>
          <p:cNvSpPr/>
          <p:nvPr/>
        </p:nvSpPr>
        <p:spPr>
          <a:xfrm>
            <a:off x="8877910" y="-2179930"/>
            <a:ext cx="4754880" cy="4754880"/>
          </a:xfrm>
          <a:prstGeom prst="ellipse">
            <a:avLst/>
          </a:prstGeom>
          <a:ln w="9525">
            <a:solidFill>
              <a:srgbClr val="232A55"/>
            </a:solidFill>
            <a:prstDash val="solid"/>
          </a:ln>
        </p:spPr>
      </p:sp>
      <p:sp>
        <p:nvSpPr>
          <p:cNvPr id="3" name="Shape 1"/>
          <p:cNvSpPr/>
          <p:nvPr/>
        </p:nvSpPr>
        <p:spPr>
          <a:xfrm>
            <a:off x="7630668" y="-3024835"/>
            <a:ext cx="6766560" cy="6766560"/>
          </a:xfrm>
          <a:prstGeom prst="ellipse">
            <a:avLst/>
          </a:prstGeom>
          <a:ln w="9525">
            <a:solidFill>
              <a:srgbClr val="232A55"/>
            </a:solidFill>
            <a:prstDash val="solid"/>
          </a:ln>
        </p:spPr>
      </p:sp>
      <p:sp>
        <p:nvSpPr>
          <p:cNvPr id="4" name="Shape 2"/>
          <p:cNvSpPr/>
          <p:nvPr/>
        </p:nvSpPr>
        <p:spPr>
          <a:xfrm>
            <a:off x="6383426" y="-3869741"/>
            <a:ext cx="8778240" cy="8778240"/>
          </a:xfrm>
          <a:prstGeom prst="ellipse">
            <a:avLst/>
          </a:prstGeom>
          <a:ln w="9525">
            <a:solidFill>
              <a:srgbClr val="232A55"/>
            </a:solidFill>
            <a:prstDash val="solid"/>
          </a:ln>
        </p:spPr>
      </p:sp>
      <p:sp>
        <p:nvSpPr>
          <p:cNvPr id="5" name="Text 3"/>
          <p:cNvSpPr txBox="1"/>
          <p:nvPr/>
        </p:nvSpPr>
        <p:spPr>
          <a:xfrm>
            <a:off x="777240" y="6309360"/>
            <a:ext cx="1371600" cy="274320"/>
          </a:xfrm>
          <a:prstGeom prst="rect">
            <a:avLst/>
          </a:prstGeom>
          <a:noFill/>
          <a:ln/>
        </p:spPr>
        <p:txBody>
          <a:bodyPr wrap="square" lIns="0" tIns="0" rIns="0" bIns="0" rtlCol="0" anchor="ctr"/>
          <a:lstStyle/>
          <a:p>
            <a:pPr indent="0" marL="0">
              <a:buNone/>
            </a:pPr>
            <a:r>
              <a:rPr lang="en-US" sz="1100" b="1" spc="400" kern="0" dirty="0">
                <a:solidFill>
                  <a:srgbClr val="B9BEDD"/>
                </a:solidFill>
                <a:latin typeface="Consolas" pitchFamily="34" charset="0"/>
                <a:ea typeface="Consolas" pitchFamily="34" charset="-122"/>
                <a:cs typeface="Consolas" pitchFamily="34" charset="-120"/>
              </a:rPr>
              <a:t>O2A</a:t>
            </a:r>
            <a:endParaRPr lang="en-US" sz="1100" dirty="0"/>
          </a:p>
        </p:txBody>
      </p:sp>
      <p:sp>
        <p:nvSpPr>
          <p:cNvPr id="6" name="Text 4"/>
          <p:cNvSpPr txBox="1"/>
          <p:nvPr/>
        </p:nvSpPr>
        <p:spPr>
          <a:xfrm>
            <a:off x="10500055" y="6309360"/>
            <a:ext cx="914400" cy="274320"/>
          </a:xfrm>
          <a:prstGeom prst="rect">
            <a:avLst/>
          </a:prstGeom>
          <a:noFill/>
          <a:ln/>
        </p:spPr>
        <p:txBody>
          <a:bodyPr wrap="square" lIns="0" tIns="0" rIns="0" bIns="0" rtlCol="0" anchor="ctr"/>
          <a:lstStyle/>
          <a:p>
            <a:pPr algn="r" indent="0" marL="0">
              <a:buNone/>
            </a:pPr>
            <a:r>
              <a:rPr lang="en-US" sz="1100" dirty="0">
                <a:solidFill>
                  <a:srgbClr val="7E85B0"/>
                </a:solidFill>
                <a:latin typeface="Consolas" pitchFamily="34" charset="0"/>
                <a:ea typeface="Consolas" pitchFamily="34" charset="-122"/>
                <a:cs typeface="Consolas" pitchFamily="34" charset="-120"/>
              </a:rPr>
              <a:t>17</a:t>
            </a:r>
            <a:endParaRPr lang="en-US" sz="1100" dirty="0"/>
          </a:p>
        </p:txBody>
      </p:sp>
      <p:sp>
        <p:nvSpPr>
          <p:cNvPr id="7" name="Text 5"/>
          <p:cNvSpPr txBox="1"/>
          <p:nvPr/>
        </p:nvSpPr>
        <p:spPr>
          <a:xfrm>
            <a:off x="777240" y="685800"/>
            <a:ext cx="7315200" cy="274320"/>
          </a:xfrm>
          <a:prstGeom prst="rect">
            <a:avLst/>
          </a:prstGeom>
          <a:noFill/>
          <a:ln/>
        </p:spPr>
        <p:txBody>
          <a:bodyPr wrap="square" lIns="0" tIns="0" rIns="0" bIns="0" rtlCol="0" anchor="ctr"/>
          <a:lstStyle/>
          <a:p>
            <a:pPr indent="0" marL="0">
              <a:buNone/>
            </a:pPr>
            <a:r>
              <a:rPr lang="en-US" sz="1200" dirty="0">
                <a:solidFill>
                  <a:srgbClr val="F2B33D"/>
                </a:solidFill>
                <a:latin typeface="Consolas" pitchFamily="34" charset="0"/>
                <a:ea typeface="Consolas" pitchFamily="34" charset="-122"/>
                <a:cs typeface="Consolas" pitchFamily="34" charset="-120"/>
              </a:rPr>
              <a:t>Join the first network</a:t>
            </a:r>
            <a:endParaRPr lang="en-US" sz="1200" dirty="0"/>
          </a:p>
        </p:txBody>
      </p:sp>
      <p:sp>
        <p:nvSpPr>
          <p:cNvPr id="8" name="Text 6"/>
          <p:cNvSpPr txBox="1"/>
          <p:nvPr/>
        </p:nvSpPr>
        <p:spPr>
          <a:xfrm>
            <a:off x="777240" y="1005840"/>
            <a:ext cx="8046720" cy="2377440"/>
          </a:xfrm>
          <a:prstGeom prst="rect">
            <a:avLst/>
          </a:prstGeom>
          <a:noFill/>
          <a:ln/>
        </p:spPr>
        <p:txBody>
          <a:bodyPr wrap="square" lIns="0" tIns="0" rIns="0" bIns="0" rtlCol="0" anchor="t"/>
          <a:lstStyle/>
          <a:p>
            <a:pPr indent="0" marL="0">
              <a:buNone/>
            </a:pPr>
            <a:r>
              <a:rPr lang="en-US" sz="5000" b="1" dirty="0">
                <a:solidFill>
                  <a:srgbClr val="EEF0FA"/>
                </a:solidFill>
                <a:latin typeface="Arial" pitchFamily="34" charset="0"/>
                <a:ea typeface="Arial" pitchFamily="34" charset="-122"/>
                <a:cs typeface="Arial" pitchFamily="34" charset="-120"/>
              </a:rPr>
              <a:t>Identity opens</a:t>
            </a:r>
            <a:endParaRPr lang="en-US" sz="5000" dirty="0"/>
          </a:p>
          <a:p>
            <a:pPr indent="0" marL="0">
              <a:buNone/>
            </a:pPr>
            <a:r>
              <a:rPr lang="en-US" sz="5000" b="1" dirty="0">
                <a:solidFill>
                  <a:srgbClr val="EEF0FA"/>
                </a:solidFill>
                <a:latin typeface="Arial" pitchFamily="34" charset="0"/>
                <a:ea typeface="Arial" pitchFamily="34" charset="-122"/>
                <a:cs typeface="Arial" pitchFamily="34" charset="-120"/>
              </a:rPr>
              <a:t>the door. Evidence</a:t>
            </a:r>
            <a:endParaRPr lang="en-US" sz="5000" dirty="0"/>
          </a:p>
          <a:p>
            <a:pPr indent="0" marL="0">
              <a:buNone/>
            </a:pPr>
            <a:r>
              <a:rPr lang="en-US" sz="5000" b="1" dirty="0">
                <a:solidFill>
                  <a:srgbClr val="EEF0FA"/>
                </a:solidFill>
                <a:latin typeface="Arial" pitchFamily="34" charset="0"/>
                <a:ea typeface="Arial" pitchFamily="34" charset="-122"/>
                <a:cs typeface="Arial" pitchFamily="34" charset="-120"/>
              </a:rPr>
              <a:t>makes it useful.</a:t>
            </a:r>
            <a:endParaRPr lang="en-US" sz="5000" dirty="0"/>
          </a:p>
        </p:txBody>
      </p:sp>
      <p:sp>
        <p:nvSpPr>
          <p:cNvPr id="9" name="Text 7"/>
          <p:cNvSpPr txBox="1"/>
          <p:nvPr/>
        </p:nvSpPr>
        <p:spPr>
          <a:xfrm>
            <a:off x="777240" y="3703320"/>
            <a:ext cx="3291840" cy="320040"/>
          </a:xfrm>
          <a:prstGeom prst="rect">
            <a:avLst/>
          </a:prstGeom>
          <a:noFill/>
          <a:ln/>
        </p:spPr>
        <p:txBody>
          <a:bodyPr wrap="square" lIns="0" tIns="0" rIns="0" bIns="0" rtlCol="0" anchor="ctr"/>
          <a:lstStyle/>
          <a:p>
            <a:pPr indent="0" marL="0">
              <a:buNone/>
            </a:pPr>
            <a:r>
              <a:rPr lang="en-US" sz="1600" b="1" dirty="0">
                <a:solidFill>
                  <a:srgbClr val="F2B33D"/>
                </a:solidFill>
                <a:latin typeface="Arial" pitchFamily="34" charset="0"/>
                <a:ea typeface="Arial" pitchFamily="34" charset="-122"/>
                <a:cs typeface="Arial" pitchFamily="34" charset="-120"/>
              </a:rPr>
              <a:t>Pilot partners</a:t>
            </a:r>
            <a:endParaRPr lang="en-US" sz="1600" dirty="0"/>
          </a:p>
        </p:txBody>
      </p:sp>
      <p:sp>
        <p:nvSpPr>
          <p:cNvPr id="10" name="Text 8"/>
          <p:cNvSpPr txBox="1"/>
          <p:nvPr/>
        </p:nvSpPr>
        <p:spPr>
          <a:xfrm>
            <a:off x="777240" y="4069080"/>
            <a:ext cx="3200400" cy="82296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Venues, promoters and artists ready to sign real bookings on the network in 2027.</a:t>
            </a:r>
            <a:endParaRPr lang="en-US" sz="1300" dirty="0"/>
          </a:p>
        </p:txBody>
      </p:sp>
      <p:sp>
        <p:nvSpPr>
          <p:cNvPr id="11" name="Text 9"/>
          <p:cNvSpPr txBox="1"/>
          <p:nvPr/>
        </p:nvSpPr>
        <p:spPr>
          <a:xfrm>
            <a:off x="4343400" y="3703320"/>
            <a:ext cx="3291840" cy="320040"/>
          </a:xfrm>
          <a:prstGeom prst="rect">
            <a:avLst/>
          </a:prstGeom>
          <a:noFill/>
          <a:ln/>
        </p:spPr>
        <p:txBody>
          <a:bodyPr wrap="square" lIns="0" tIns="0" rIns="0" bIns="0" rtlCol="0" anchor="ctr"/>
          <a:lstStyle/>
          <a:p>
            <a:pPr indent="0" marL="0">
              <a:buNone/>
            </a:pPr>
            <a:r>
              <a:rPr lang="en-US" sz="1600" b="1" dirty="0">
                <a:solidFill>
                  <a:srgbClr val="F2B33D"/>
                </a:solidFill>
                <a:latin typeface="Arial" pitchFamily="34" charset="0"/>
                <a:ea typeface="Arial" pitchFamily="34" charset="-122"/>
                <a:cs typeface="Arial" pitchFamily="34" charset="-120"/>
              </a:rPr>
              <a:t>Builders</a:t>
            </a:r>
            <a:endParaRPr lang="en-US" sz="1600" dirty="0"/>
          </a:p>
        </p:txBody>
      </p:sp>
      <p:sp>
        <p:nvSpPr>
          <p:cNvPr id="12" name="Text 10"/>
          <p:cNvSpPr txBox="1"/>
          <p:nvPr/>
        </p:nvSpPr>
        <p:spPr>
          <a:xfrm>
            <a:off x="4343400" y="4069080"/>
            <a:ext cx="3200400" cy="82296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Wallet, RGB and identity engineers who want an open protocol with real users behind it.</a:t>
            </a:r>
            <a:endParaRPr lang="en-US" sz="1300" dirty="0"/>
          </a:p>
        </p:txBody>
      </p:sp>
      <p:sp>
        <p:nvSpPr>
          <p:cNvPr id="13" name="Text 11"/>
          <p:cNvSpPr txBox="1"/>
          <p:nvPr/>
        </p:nvSpPr>
        <p:spPr>
          <a:xfrm>
            <a:off x="7909560" y="3703320"/>
            <a:ext cx="3291840" cy="320040"/>
          </a:xfrm>
          <a:prstGeom prst="rect">
            <a:avLst/>
          </a:prstGeom>
          <a:noFill/>
          <a:ln/>
        </p:spPr>
        <p:txBody>
          <a:bodyPr wrap="square" lIns="0" tIns="0" rIns="0" bIns="0" rtlCol="0" anchor="ctr"/>
          <a:lstStyle/>
          <a:p>
            <a:pPr indent="0" marL="0">
              <a:buNone/>
            </a:pPr>
            <a:r>
              <a:rPr lang="en-US" sz="1600" b="1" dirty="0">
                <a:solidFill>
                  <a:srgbClr val="F2B33D"/>
                </a:solidFill>
                <a:latin typeface="Arial" pitchFamily="34" charset="0"/>
                <a:ea typeface="Arial" pitchFamily="34" charset="-122"/>
                <a:cs typeface="Arial" pitchFamily="34" charset="-120"/>
              </a:rPr>
              <a:t>Capital</a:t>
            </a:r>
            <a:endParaRPr lang="en-US" sz="1600" dirty="0"/>
          </a:p>
        </p:txBody>
      </p:sp>
      <p:sp>
        <p:nvSpPr>
          <p:cNvPr id="14" name="Text 12"/>
          <p:cNvSpPr txBox="1"/>
          <p:nvPr/>
        </p:nvSpPr>
        <p:spPr>
          <a:xfrm>
            <a:off x="7909560" y="4069080"/>
            <a:ext cx="3200400" cy="822960"/>
          </a:xfrm>
          <a:prstGeom prst="rect">
            <a:avLst/>
          </a:prstGeom>
          <a:noFill/>
          <a:ln/>
        </p:spPr>
        <p:txBody>
          <a:bodyPr wrap="square" lIns="0" tIns="0" rIns="0" bIns="0" rtlCol="0" anchor="t"/>
          <a:lstStyle/>
          <a:p>
            <a:pPr indent="0" marL="0">
              <a:spcAft>
                <a:spcPts val="600"/>
              </a:spcAft>
              <a:buNone/>
            </a:pPr>
            <a:r>
              <a:rPr lang="en-US" sz="1300" dirty="0">
                <a:solidFill>
                  <a:srgbClr val="B9BEDD"/>
                </a:solidFill>
                <a:latin typeface="Arial" pitchFamily="34" charset="0"/>
                <a:ea typeface="Arial" pitchFamily="34" charset="-122"/>
                <a:cs typeface="Arial" pitchFamily="34" charset="-120"/>
              </a:rPr>
              <a:t>To ship the minimum wallet and run the first measured pilot through 2027.</a:t>
            </a:r>
            <a:endParaRPr lang="en-US" sz="1300" dirty="0"/>
          </a:p>
        </p:txBody>
      </p:sp>
      <p:sp>
        <p:nvSpPr>
          <p:cNvPr id="15" name="Text 13"/>
          <p:cNvSpPr txBox="1"/>
          <p:nvPr/>
        </p:nvSpPr>
        <p:spPr>
          <a:xfrm>
            <a:off x="777240" y="5120640"/>
            <a:ext cx="7315200" cy="868680"/>
          </a:xfrm>
          <a:prstGeom prst="rect">
            <a:avLst/>
          </a:prstGeom>
          <a:noFill/>
          <a:ln/>
        </p:spPr>
        <p:txBody>
          <a:bodyPr wrap="square" lIns="0" tIns="0" rIns="0" bIns="0" rtlCol="0" anchor="t"/>
          <a:lstStyle/>
          <a:p>
            <a:pPr indent="0" marL="0">
              <a:buNone/>
            </a:pPr>
            <a:r>
              <a:rPr lang="en-US" sz="1100" dirty="0">
                <a:solidFill>
                  <a:srgbClr val="7E85B0"/>
                </a:solidFill>
                <a:latin typeface="Consolas" pitchFamily="34" charset="0"/>
                <a:ea typeface="Consolas" pitchFamily="34" charset="-122"/>
                <a:cs typeface="Consolas" pitchFamily="34" charset="-120"/>
              </a:rPr>
              <a:t>Specification  </a:t>
            </a:r>
            <a:pPr indent="0" marL="0">
              <a:buNone/>
            </a:pPr>
            <a:r>
              <a:rPr lang="en-US" sz="1100" dirty="0">
                <a:solidFill>
                  <a:srgbClr val="B9BEDD"/>
                </a:solidFill>
                <a:latin typeface="Consolas" pitchFamily="34" charset="0"/>
                <a:ea typeface="Consolas" pitchFamily="34" charset="-122"/>
                <a:cs typeface="Consolas" pitchFamily="34" charset="-120"/>
              </a:rPr>
              <a:t>github.com/EdwinKestler/o2a-protocol</a:t>
            </a:r>
            <a:endParaRPr lang="en-US" sz="1100" dirty="0"/>
          </a:p>
          <a:p>
            <a:pPr indent="0" marL="0">
              <a:buNone/>
            </a:pPr>
            <a:r>
              <a:rPr lang="en-US" sz="1100" dirty="0">
                <a:solidFill>
                  <a:srgbClr val="7E85B0"/>
                </a:solidFill>
                <a:latin typeface="Consolas" pitchFamily="34" charset="0"/>
                <a:ea typeface="Consolas" pitchFamily="34" charset="-122"/>
                <a:cs typeface="Consolas" pitchFamily="34" charset="-120"/>
              </a:rPr>
              <a:t>Demonstration  </a:t>
            </a:r>
            <a:pPr indent="0" marL="0">
              <a:buNone/>
            </a:pPr>
            <a:r>
              <a:rPr lang="en-US" sz="1100" dirty="0">
                <a:solidFill>
                  <a:srgbClr val="B9BEDD"/>
                </a:solidFill>
                <a:latin typeface="Consolas" pitchFamily="34" charset="0"/>
                <a:ea typeface="Consolas" pitchFamily="34" charset="-122"/>
                <a:cs typeface="Consolas" pitchFamily="34" charset="-120"/>
              </a:rPr>
              <a:t>github.com/EdwinKestler/o2a-testnet-demo</a:t>
            </a:r>
            <a:endParaRPr lang="en-US" sz="1100" dirty="0"/>
          </a:p>
          <a:p>
            <a:pPr indent="0" marL="0">
              <a:buNone/>
            </a:pPr>
            <a:r>
              <a:rPr lang="en-US" sz="1100" dirty="0">
                <a:solidFill>
                  <a:srgbClr val="7E85B0"/>
                </a:solidFill>
                <a:latin typeface="Consolas" pitchFamily="34" charset="0"/>
                <a:ea typeface="Consolas" pitchFamily="34" charset="-122"/>
                <a:cs typeface="Consolas" pitchFamily="34" charset="-120"/>
              </a:rPr>
              <a:t>Project        </a:t>
            </a:r>
            <a:pPr indent="0" marL="0">
              <a:buNone/>
            </a:pPr>
            <a:r>
              <a:rPr lang="en-US" sz="1100" dirty="0">
                <a:solidFill>
                  <a:srgbClr val="B9BEDD"/>
                </a:solidFill>
                <a:latin typeface="Consolas" pitchFamily="34" charset="0"/>
                <a:ea typeface="Consolas" pitchFamily="34" charset="-122"/>
                <a:cs typeface="Consolas" pitchFamily="34" charset="-120"/>
              </a:rPr>
              <a:t>o2a-protocol.edwinkestler.chatgpt.site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O2A — Open2Artist pitch deck v2</dc:title>
  <dc:subject>PptxGenJS Presentation</dc:subject>
  <dc:creator>O2A</dc:creator>
  <cp:lastModifiedBy>O2A</cp:lastModifiedBy>
  <cp:revision>1</cp:revision>
  <dcterms:created xsi:type="dcterms:W3CDTF">2026-09-29T17:26:16Z</dcterms:created>
  <dcterms:modified xsi:type="dcterms:W3CDTF">2026-09-29T17:26:16Z</dcterms:modified>
</cp:coreProperties>
</file>